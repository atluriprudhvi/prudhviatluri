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6" roundtripDataSignature="AMtx7mhaqCzAUgo0FBC+uL4dqipNO+RT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(30 sec)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Here's the agenda. We'll start with the big picture — how logs flow from applications to dashboards. Then the four tables we maintain, how PII is handled, the infrastructure features that make this production-grade, how to query the data, and finally the proposed access control model which is open for your feedback.</a:t>
            </a:r>
            <a:endParaRPr/>
          </a:p>
        </p:txBody>
      </p:sp>
      <p:sp>
        <p:nvSpPr>
          <p:cNvPr id="83" name="Google Shape;83;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e73ba2ea3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g3ce73ba2ea3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 me walk through the pipeline. Applications write logs into three CloudWatch Log Groups — chat_logs, feedback_logs, and agent_hours.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anything leaves CloudWatch, a Data Protection Policy scans chat_logs and redacts PII like SSNs, credit cards, emails, and dates of birth.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Subscription filters forward logs to dedicated Kinesis Firehose streams. Each Firehose has a Lambda processor that extracts individual events from the CloudWatch subscription format and enriches them with UTC timestamps and array count columns.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Firehose converts JSON to Parquet using Glue table schemas and writes to S3 with Hive-style partitioning — year, month, day, hour.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S3 events trigger a partition registration Lambda, and then Athena can query via the Glue catalog. QuickSight visualizes through four datasets.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chat_logs specifically, there are two filters — one strips PII fields for the main analytics table, another preserves the redacted versions in chat_conversations.</a:t>
            </a:r>
            <a:endParaRPr/>
          </a:p>
        </p:txBody>
      </p:sp>
      <p:sp>
        <p:nvSpPr>
          <p:cNvPr id="108" name="Google Shape;108;g3ce73ba2ea3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(30 sec)</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slide is here as a reference — feel free to copy the architecture flow text for your own documentation or design docs. It shows the full pipeline path and the mapping from each log group through its Firehose stream to the final Glue 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Notice chat_logs feeds two separate paths — one for the main analytics table and one for the PII-isolated chat_conversations table.</a:t>
            </a:r>
            <a:endParaRPr/>
          </a:p>
        </p:txBody>
      </p:sp>
      <p:sp>
        <p:nvSpPr>
          <p:cNvPr id="145" name="Google Shape;145;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Let me walk through the pipeline. Applications write logs into three CloudWatch Log Groups — chat_logs, feedback_logs, and agent_hours.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anything leaves CloudWatch, a Data Protection Policy scans chat_logs and redacts PII like SSNs, credit cards, emails, and dates of birth.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Subscription filters forward logs to dedicated Kinesis Firehose streams. Each Firehose has a Lambda processor that extracts individual events from the CloudWatch subscription format and enriches them with UTC timestamps and array count columns.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Firehose converts JSON to Parquet using Glue table schemas and writes to S3 with Hive-style partitioning — year, month, day, hour.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S3 events trigger a partition registration Lambda, and then Athena can query via the Glue catalog. QuickSight visualizes through four datasets.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chat_logs specifically, there are two filters — one strips PII fields for the main analytics table, another preserves the redacted versions in chat_conversations.</a:t>
            </a:r>
            <a:endParaRPr/>
          </a:p>
        </p:txBody>
      </p:sp>
      <p:sp>
        <p:nvSpPr>
          <p:cNvPr id="159" name="Google Shape;159;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maintain four Glue tables, each served by its own Firehose stream.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chat_logs is the main analytics table — latency, time to first token, resources cited, connectors, file attachments — but PII fields are completely stripped. This is what most analysts use day to day.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chat_conversations is the PII-isolated table. It has user_message and system_text_message, but these are redacted by CloudWatch Data Protection before reaching the pipeline. Shares join keys with chat_logs for reconstruction via JOIN.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feedback_logs captures thumbs up/down, reasons, and free-text details.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agent_hours tracks metered usage — subscription types, hours consumed, service resource ARNs.</a:t>
            </a:r>
            <a:endParaRPr/>
          </a:p>
        </p:txBody>
      </p:sp>
      <p:sp>
        <p:nvSpPr>
          <p:cNvPr id="167" name="Google Shape;167;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the key security design. The chat_logs CloudWatch log group feeds two separate subscription filters.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Path 1 strips PII fields entirely — user_message and system_text_message never make it into chat_logs. This is the table most people use for latency, TTFT, and usage analytics.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Path 2 preserves those fields but they've been redacted by CloudWatch Data Protection first. Names become asterisks, emails get masked, SSNs replaced. These go into chat_conversations.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Both tables share join keys — system_message_id, conversation_id, etc. — so you can reconstruct the full record with an Athena JOIN when needed.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means broad access to chat_logs for dashboards, restricted access to chat_conversations for those who need conversation content.</a:t>
            </a:r>
            <a:endParaRPr/>
          </a:p>
        </p:txBody>
      </p:sp>
      <p:sp>
        <p:nvSpPr>
          <p:cNvPr id="195" name="Google Shape;195;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(1.5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CloudWatch Data Protection is the first line of defense. Applied at the log group level on chat_logs — the only group with user-generated content.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Redaction happens at the CloudWatch level before data reaches any subscriber. By the time Firehose sees data, PII is already masked.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 uses AWS managed data identifiers — SSNs, credit cards, emails, DOB, names. Detected values get replaced with asterisks.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Key benefit: zero code changes. The policy is configured entirely in Terraform.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Feedback and agent hours don't need this — no user-generated free-text content in those log groups.</a:t>
            </a:r>
            <a:endParaRPr/>
          </a:p>
        </p:txBody>
      </p:sp>
      <p:sp>
        <p:nvSpPr>
          <p:cNvPr id="219" name="Google Shape;219;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Six features that make this production-grade.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Parquet format — Firehose converts JSON to Parquet via Glue schemas. Columnar storage, 70-90% smaller than raw JSON, and Athena reads only needed columns.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Hive partitioning — data organized by year, month, day, hour. Partition filters mean Athena scans only relevant directories. Faster queries, lower cost.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AWS KMS encryption — we use AWS Key Management Service for cryptographic key management across the pipeline. Covers S3, CloudWatch, Firehose, and Athena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Automatic partition registration — S3 PutObject events trigger a Lambda that calls BatchCreatePartition for all four tables. No manual MSCK REPAIR 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Lifecycle management — Glacier after 90 days, deletion after 7 years. Failed records go to a dead-letter bucket.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Timestamp enrichment — the Lambda processor adds UTC timestamps and array count columns like cited_resource_count and file_attachment_count for QuickSight aggregation.</a:t>
            </a:r>
            <a:endParaRPr/>
          </a:p>
        </p:txBody>
      </p:sp>
      <p:sp>
        <p:nvSpPr>
          <p:cNvPr id="255" name="Google Shape;255;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Some example Athena queries. Golden rule: always include partition filters in your WHERE clause.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 — average latency by user type from chat_logs. Simple aggregation filtered to a specific month.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Second — feedback summary. Counts by feedback type.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Third and most interesting — reconstructing the full record by JOINing chat_logs with chat_conversations on system_message_id. Use this when you need conversation content alongside metrics.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Four QuickSight datasets — one per Glue table — all in DIRECT_QUERY mode against Athena. Dashboards always show current data without SPICE refresh schedules.</a:t>
            </a:r>
            <a:endParaRPr/>
          </a:p>
        </p:txBody>
      </p:sp>
      <p:sp>
        <p:nvSpPr>
          <p:cNvPr id="286" name="Google Shape;286;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SPEAKER NOTES (2 min)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the proposed access control model — currently under customer review and open for feedback.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There are three role-environment combinations.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Admin PRO gets the same access in both non-prod and prod: full read access to all four Glue tables, full Athena query execution, and all four QuickSight datasets. They can query chat_logs, chat_conversations, feedback_logs, and agent_hours.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Author PRO in non-prod also gets full access across all four tables, all Athena permissions, and all four QuickSight datasets.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key distinction is Author PRO in prod. They get limited access — only three of the four tables. chat_conversations is explicitly excluded. Even though the content is redacted by CloudWatch Data Protection, it still contains conversation text that we want to restrict in production. So Author PRO in prod can query chat_logs, feedback_logs, and agent_hours, and see those three QuickSight datasets.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same permission boundaries apply consistently across Glue table access, Athena query permissions, and QuickSight dataset visibility.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a proposed model — we'd welcome any feedback on the role definitions or the access boundaries.</a:t>
            </a:r>
            <a:endParaRPr/>
          </a:p>
        </p:txBody>
      </p:sp>
      <p:sp>
        <p:nvSpPr>
          <p:cNvPr id="303" name="Google Shape;303;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idx="2" type="pic"/>
          </p:nvPr>
        </p:nvSpPr>
        <p:spPr>
          <a:xfrm>
            <a:off x="1792288" y="612775"/>
            <a:ext cx="5486400" cy="4114800"/>
          </a:xfrm>
          <a:prstGeom prst="rect">
            <a:avLst/>
          </a:prstGeom>
          <a:noFill/>
          <a:ln>
            <a:noFill/>
          </a:ln>
        </p:spPr>
      </p:sp>
      <p:sp>
        <p:nvSpPr>
          <p:cNvPr id="64" name="Google Shape;64;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2"/>
          <p:cNvSpPr txBox="1"/>
          <p:nvPr/>
        </p:nvSpPr>
        <p:spPr>
          <a:xfrm>
            <a:off x="914400" y="548640"/>
            <a:ext cx="9144000" cy="731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400">
                <a:solidFill>
                  <a:srgbClr val="0F1B2D"/>
                </a:solidFill>
                <a:latin typeface="Calibri"/>
                <a:ea typeface="Calibri"/>
                <a:cs typeface="Calibri"/>
                <a:sym typeface="Calibri"/>
              </a:rPr>
              <a:t>Agenda</a:t>
            </a:r>
            <a:endParaRPr/>
          </a:p>
        </p:txBody>
      </p:sp>
      <p:sp>
        <p:nvSpPr>
          <p:cNvPr id="86" name="Google Shape;86;p2"/>
          <p:cNvSpPr/>
          <p:nvPr/>
        </p:nvSpPr>
        <p:spPr>
          <a:xfrm>
            <a:off x="914400" y="1234440"/>
            <a:ext cx="2286000" cy="36576"/>
          </a:xfrm>
          <a:prstGeom prst="rect">
            <a:avLst/>
          </a:prstGeom>
          <a:solidFill>
            <a:srgbClr val="FF99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2"/>
          <p:cNvSpPr txBox="1"/>
          <p:nvPr/>
        </p:nvSpPr>
        <p:spPr>
          <a:xfrm>
            <a:off x="1097280" y="1737360"/>
            <a:ext cx="36576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000" u="none" cap="none" strike="noStrike">
                <a:solidFill>
                  <a:srgbClr val="FF9900"/>
                </a:solidFill>
                <a:latin typeface="Calibri"/>
                <a:ea typeface="Calibri"/>
                <a:cs typeface="Calibri"/>
                <a:sym typeface="Calibri"/>
              </a:rPr>
              <a:t>1.</a:t>
            </a:r>
            <a:endParaRPr/>
          </a:p>
        </p:txBody>
      </p:sp>
      <p:sp>
        <p:nvSpPr>
          <p:cNvPr id="88" name="Google Shape;88;p2"/>
          <p:cNvSpPr txBox="1"/>
          <p:nvPr/>
        </p:nvSpPr>
        <p:spPr>
          <a:xfrm>
            <a:off x="1645920" y="1719072"/>
            <a:ext cx="45720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F1B2D"/>
                </a:solidFill>
                <a:latin typeface="Calibri"/>
                <a:ea typeface="Calibri"/>
                <a:cs typeface="Calibri"/>
                <a:sym typeface="Calibri"/>
              </a:rPr>
              <a:t>Architecture Overview</a:t>
            </a:r>
            <a:endParaRPr/>
          </a:p>
        </p:txBody>
      </p:sp>
      <p:sp>
        <p:nvSpPr>
          <p:cNvPr id="89" name="Google Shape;89;p2"/>
          <p:cNvSpPr txBox="1"/>
          <p:nvPr/>
        </p:nvSpPr>
        <p:spPr>
          <a:xfrm>
            <a:off x="1645920" y="2029967"/>
            <a:ext cx="7315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High-level pipeline from CloudWatch to QuickSight</a:t>
            </a:r>
            <a:endParaRPr/>
          </a:p>
        </p:txBody>
      </p:sp>
      <p:sp>
        <p:nvSpPr>
          <p:cNvPr id="90" name="Google Shape;90;p2"/>
          <p:cNvSpPr txBox="1"/>
          <p:nvPr/>
        </p:nvSpPr>
        <p:spPr>
          <a:xfrm>
            <a:off x="1097280" y="2487168"/>
            <a:ext cx="36576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000" u="none" cap="none" strike="noStrike">
                <a:solidFill>
                  <a:srgbClr val="FF9900"/>
                </a:solidFill>
                <a:latin typeface="Calibri"/>
                <a:ea typeface="Calibri"/>
                <a:cs typeface="Calibri"/>
                <a:sym typeface="Calibri"/>
              </a:rPr>
              <a:t>2.</a:t>
            </a:r>
            <a:endParaRPr/>
          </a:p>
        </p:txBody>
      </p:sp>
      <p:sp>
        <p:nvSpPr>
          <p:cNvPr id="91" name="Google Shape;91;p2"/>
          <p:cNvSpPr txBox="1"/>
          <p:nvPr/>
        </p:nvSpPr>
        <p:spPr>
          <a:xfrm>
            <a:off x="1645920" y="2468879"/>
            <a:ext cx="45720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F1B2D"/>
                </a:solidFill>
                <a:latin typeface="Calibri"/>
                <a:ea typeface="Calibri"/>
                <a:cs typeface="Calibri"/>
                <a:sym typeface="Calibri"/>
              </a:rPr>
              <a:t>Four Data Tables</a:t>
            </a:r>
            <a:endParaRPr/>
          </a:p>
        </p:txBody>
      </p:sp>
      <p:sp>
        <p:nvSpPr>
          <p:cNvPr id="92" name="Google Shape;92;p2"/>
          <p:cNvSpPr txBox="1"/>
          <p:nvPr/>
        </p:nvSpPr>
        <p:spPr>
          <a:xfrm>
            <a:off x="1645920" y="2779775"/>
            <a:ext cx="7315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What we collect: chat, conversations, feedback, agent hours</a:t>
            </a:r>
            <a:endParaRPr/>
          </a:p>
        </p:txBody>
      </p:sp>
      <p:sp>
        <p:nvSpPr>
          <p:cNvPr id="93" name="Google Shape;93;p2"/>
          <p:cNvSpPr txBox="1"/>
          <p:nvPr/>
        </p:nvSpPr>
        <p:spPr>
          <a:xfrm>
            <a:off x="1097280" y="3236975"/>
            <a:ext cx="36576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000" u="none" cap="none" strike="noStrike">
                <a:solidFill>
                  <a:srgbClr val="FF9900"/>
                </a:solidFill>
                <a:latin typeface="Calibri"/>
                <a:ea typeface="Calibri"/>
                <a:cs typeface="Calibri"/>
                <a:sym typeface="Calibri"/>
              </a:rPr>
              <a:t>3.</a:t>
            </a:r>
            <a:endParaRPr/>
          </a:p>
        </p:txBody>
      </p:sp>
      <p:sp>
        <p:nvSpPr>
          <p:cNvPr id="94" name="Google Shape;94;p2"/>
          <p:cNvSpPr txBox="1"/>
          <p:nvPr/>
        </p:nvSpPr>
        <p:spPr>
          <a:xfrm>
            <a:off x="1645920" y="3218687"/>
            <a:ext cx="45720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F1B2D"/>
                </a:solidFill>
                <a:latin typeface="Calibri"/>
                <a:ea typeface="Calibri"/>
                <a:cs typeface="Calibri"/>
                <a:sym typeface="Calibri"/>
              </a:rPr>
              <a:t>PII Separation &amp; Data Protection</a:t>
            </a:r>
            <a:endParaRPr/>
          </a:p>
        </p:txBody>
      </p:sp>
      <p:sp>
        <p:nvSpPr>
          <p:cNvPr id="95" name="Google Shape;95;p2"/>
          <p:cNvSpPr txBox="1"/>
          <p:nvPr/>
        </p:nvSpPr>
        <p:spPr>
          <a:xfrm>
            <a:off x="1645920" y="3529583"/>
            <a:ext cx="7315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How sensitive data is isolated and redacted</a:t>
            </a:r>
            <a:endParaRPr/>
          </a:p>
        </p:txBody>
      </p:sp>
      <p:sp>
        <p:nvSpPr>
          <p:cNvPr id="96" name="Google Shape;96;p2"/>
          <p:cNvSpPr txBox="1"/>
          <p:nvPr/>
        </p:nvSpPr>
        <p:spPr>
          <a:xfrm>
            <a:off x="1097280" y="3986783"/>
            <a:ext cx="36576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000" u="none" cap="none" strike="noStrike">
                <a:solidFill>
                  <a:srgbClr val="FF9900"/>
                </a:solidFill>
                <a:latin typeface="Calibri"/>
                <a:ea typeface="Calibri"/>
                <a:cs typeface="Calibri"/>
                <a:sym typeface="Calibri"/>
              </a:rPr>
              <a:t>4.</a:t>
            </a:r>
            <a:endParaRPr/>
          </a:p>
        </p:txBody>
      </p:sp>
      <p:sp>
        <p:nvSpPr>
          <p:cNvPr id="97" name="Google Shape;97;p2"/>
          <p:cNvSpPr txBox="1"/>
          <p:nvPr/>
        </p:nvSpPr>
        <p:spPr>
          <a:xfrm>
            <a:off x="1645920" y="3968496"/>
            <a:ext cx="45720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F1B2D"/>
                </a:solidFill>
                <a:latin typeface="Calibri"/>
                <a:ea typeface="Calibri"/>
                <a:cs typeface="Calibri"/>
                <a:sym typeface="Calibri"/>
              </a:rPr>
              <a:t>Key Infrastructure Features</a:t>
            </a:r>
            <a:endParaRPr/>
          </a:p>
        </p:txBody>
      </p:sp>
      <p:sp>
        <p:nvSpPr>
          <p:cNvPr id="98" name="Google Shape;98;p2"/>
          <p:cNvSpPr txBox="1"/>
          <p:nvPr/>
        </p:nvSpPr>
        <p:spPr>
          <a:xfrm>
            <a:off x="1645920" y="4279392"/>
            <a:ext cx="7315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Parquet, partitioning, encryption, lifecycle</a:t>
            </a:r>
            <a:endParaRPr/>
          </a:p>
        </p:txBody>
      </p:sp>
      <p:sp>
        <p:nvSpPr>
          <p:cNvPr id="99" name="Google Shape;99;p2"/>
          <p:cNvSpPr txBox="1"/>
          <p:nvPr/>
        </p:nvSpPr>
        <p:spPr>
          <a:xfrm>
            <a:off x="1097280" y="4736592"/>
            <a:ext cx="36576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000" u="none" cap="none" strike="noStrike">
                <a:solidFill>
                  <a:srgbClr val="FF9900"/>
                </a:solidFill>
                <a:latin typeface="Calibri"/>
                <a:ea typeface="Calibri"/>
                <a:cs typeface="Calibri"/>
                <a:sym typeface="Calibri"/>
              </a:rPr>
              <a:t>5.</a:t>
            </a:r>
            <a:endParaRPr/>
          </a:p>
        </p:txBody>
      </p:sp>
      <p:sp>
        <p:nvSpPr>
          <p:cNvPr id="100" name="Google Shape;100;p2"/>
          <p:cNvSpPr txBox="1"/>
          <p:nvPr/>
        </p:nvSpPr>
        <p:spPr>
          <a:xfrm>
            <a:off x="1645920" y="4718304"/>
            <a:ext cx="45720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F1B2D"/>
                </a:solidFill>
                <a:latin typeface="Calibri"/>
                <a:ea typeface="Calibri"/>
                <a:cs typeface="Calibri"/>
                <a:sym typeface="Calibri"/>
              </a:rPr>
              <a:t>Querying &amp; Visualization</a:t>
            </a:r>
            <a:endParaRPr/>
          </a:p>
        </p:txBody>
      </p:sp>
      <p:sp>
        <p:nvSpPr>
          <p:cNvPr id="101" name="Google Shape;101;p2"/>
          <p:cNvSpPr txBox="1"/>
          <p:nvPr/>
        </p:nvSpPr>
        <p:spPr>
          <a:xfrm>
            <a:off x="1645920" y="5029200"/>
            <a:ext cx="7315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Athena SQL examples and QuickSight dashboards</a:t>
            </a:r>
            <a:endParaRPr/>
          </a:p>
        </p:txBody>
      </p:sp>
      <p:sp>
        <p:nvSpPr>
          <p:cNvPr id="102" name="Google Shape;102;p2"/>
          <p:cNvSpPr txBox="1"/>
          <p:nvPr/>
        </p:nvSpPr>
        <p:spPr>
          <a:xfrm>
            <a:off x="1097280" y="5486400"/>
            <a:ext cx="36576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000" u="none" cap="none" strike="noStrike">
                <a:solidFill>
                  <a:srgbClr val="FF9900"/>
                </a:solidFill>
                <a:latin typeface="Calibri"/>
                <a:ea typeface="Calibri"/>
                <a:cs typeface="Calibri"/>
                <a:sym typeface="Calibri"/>
              </a:rPr>
              <a:t>6.</a:t>
            </a:r>
            <a:endParaRPr/>
          </a:p>
        </p:txBody>
      </p:sp>
      <p:sp>
        <p:nvSpPr>
          <p:cNvPr id="103" name="Google Shape;103;p2"/>
          <p:cNvSpPr txBox="1"/>
          <p:nvPr/>
        </p:nvSpPr>
        <p:spPr>
          <a:xfrm>
            <a:off x="1645920" y="5468112"/>
            <a:ext cx="45720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F1B2D"/>
                </a:solidFill>
                <a:latin typeface="Calibri"/>
                <a:ea typeface="Calibri"/>
                <a:cs typeface="Calibri"/>
                <a:sym typeface="Calibri"/>
              </a:rPr>
              <a:t>Access Control Model</a:t>
            </a:r>
            <a:endParaRPr/>
          </a:p>
        </p:txBody>
      </p:sp>
      <p:sp>
        <p:nvSpPr>
          <p:cNvPr id="104" name="Google Shape;104;p2"/>
          <p:cNvSpPr txBox="1"/>
          <p:nvPr/>
        </p:nvSpPr>
        <p:spPr>
          <a:xfrm>
            <a:off x="1645920" y="5779008"/>
            <a:ext cx="7315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Proposed QuickSight, Glue, and Athena permissions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g3ce73ba2ea3_0_0"/>
          <p:cNvSpPr txBox="1"/>
          <p:nvPr/>
        </p:nvSpPr>
        <p:spPr>
          <a:xfrm>
            <a:off x="731520" y="365760"/>
            <a:ext cx="9144000" cy="64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3200" u="none" cap="none" strike="noStrike">
                <a:solidFill>
                  <a:srgbClr val="0F1B2D"/>
                </a:solidFill>
                <a:latin typeface="Calibri"/>
                <a:ea typeface="Calibri"/>
                <a:cs typeface="Calibri"/>
                <a:sym typeface="Calibri"/>
              </a:rPr>
              <a:t>Architecture Overview</a:t>
            </a:r>
            <a:endParaRPr/>
          </a:p>
        </p:txBody>
      </p:sp>
      <p:sp>
        <p:nvSpPr>
          <p:cNvPr id="111" name="Google Shape;111;g3ce73ba2ea3_0_0"/>
          <p:cNvSpPr/>
          <p:nvPr/>
        </p:nvSpPr>
        <p:spPr>
          <a:xfrm>
            <a:off x="731520" y="960120"/>
            <a:ext cx="1828800" cy="36600"/>
          </a:xfrm>
          <a:prstGeom prst="rect">
            <a:avLst/>
          </a:prstGeom>
          <a:solidFill>
            <a:srgbClr val="FF990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g3ce73ba2ea3_0_0"/>
          <p:cNvSpPr/>
          <p:nvPr/>
        </p:nvSpPr>
        <p:spPr>
          <a:xfrm>
            <a:off x="457200" y="1371600"/>
            <a:ext cx="1280100" cy="868800"/>
          </a:xfrm>
          <a:prstGeom prst="rect">
            <a:avLst/>
          </a:prstGeom>
          <a:solidFill>
            <a:srgbClr val="0F1B2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CloudWatch</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Log Groups</a:t>
            </a:r>
            <a:endParaRPr/>
          </a:p>
        </p:txBody>
      </p:sp>
      <p:sp>
        <p:nvSpPr>
          <p:cNvPr id="113" name="Google Shape;113;g3ce73ba2ea3_0_0"/>
          <p:cNvSpPr txBox="1"/>
          <p:nvPr/>
        </p:nvSpPr>
        <p:spPr>
          <a:xfrm>
            <a:off x="1737360" y="1627632"/>
            <a:ext cx="320100" cy="365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6B7280"/>
                </a:solidFill>
                <a:latin typeface="Calibri"/>
                <a:ea typeface="Calibri"/>
                <a:cs typeface="Calibri"/>
                <a:sym typeface="Calibri"/>
              </a:rPr>
              <a:t>→</a:t>
            </a:r>
            <a:endParaRPr/>
          </a:p>
        </p:txBody>
      </p:sp>
      <p:sp>
        <p:nvSpPr>
          <p:cNvPr id="114" name="Google Shape;114;g3ce73ba2ea3_0_0"/>
          <p:cNvSpPr/>
          <p:nvPr/>
        </p:nvSpPr>
        <p:spPr>
          <a:xfrm>
            <a:off x="2057400" y="1371600"/>
            <a:ext cx="1280100" cy="868800"/>
          </a:xfrm>
          <a:prstGeom prst="rect">
            <a:avLst/>
          </a:prstGeom>
          <a:solidFill>
            <a:srgbClr val="1A3A5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Subscription</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Filters</a:t>
            </a:r>
            <a:endParaRPr/>
          </a:p>
        </p:txBody>
      </p:sp>
      <p:sp>
        <p:nvSpPr>
          <p:cNvPr id="115" name="Google Shape;115;g3ce73ba2ea3_0_0"/>
          <p:cNvSpPr txBox="1"/>
          <p:nvPr/>
        </p:nvSpPr>
        <p:spPr>
          <a:xfrm>
            <a:off x="3337560" y="1627632"/>
            <a:ext cx="320100" cy="365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6B7280"/>
                </a:solidFill>
                <a:latin typeface="Calibri"/>
                <a:ea typeface="Calibri"/>
                <a:cs typeface="Calibri"/>
                <a:sym typeface="Calibri"/>
              </a:rPr>
              <a:t>→</a:t>
            </a:r>
            <a:endParaRPr/>
          </a:p>
        </p:txBody>
      </p:sp>
      <p:sp>
        <p:nvSpPr>
          <p:cNvPr id="116" name="Google Shape;116;g3ce73ba2ea3_0_0"/>
          <p:cNvSpPr/>
          <p:nvPr/>
        </p:nvSpPr>
        <p:spPr>
          <a:xfrm>
            <a:off x="3657600" y="1371600"/>
            <a:ext cx="1280100" cy="868800"/>
          </a:xfrm>
          <a:prstGeom prst="rect">
            <a:avLst/>
          </a:prstGeom>
          <a:solidFill>
            <a:srgbClr val="065A8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Kinesis Firehose</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 Lambda</a:t>
            </a:r>
            <a:endParaRPr/>
          </a:p>
        </p:txBody>
      </p:sp>
      <p:sp>
        <p:nvSpPr>
          <p:cNvPr id="117" name="Google Shape;117;g3ce73ba2ea3_0_0"/>
          <p:cNvSpPr txBox="1"/>
          <p:nvPr/>
        </p:nvSpPr>
        <p:spPr>
          <a:xfrm>
            <a:off x="4937760" y="1627632"/>
            <a:ext cx="320100" cy="365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6B7280"/>
                </a:solidFill>
                <a:latin typeface="Calibri"/>
                <a:ea typeface="Calibri"/>
                <a:cs typeface="Calibri"/>
                <a:sym typeface="Calibri"/>
              </a:rPr>
              <a:t>→</a:t>
            </a:r>
            <a:endParaRPr/>
          </a:p>
        </p:txBody>
      </p:sp>
      <p:sp>
        <p:nvSpPr>
          <p:cNvPr id="118" name="Google Shape;118;g3ce73ba2ea3_0_0"/>
          <p:cNvSpPr/>
          <p:nvPr/>
        </p:nvSpPr>
        <p:spPr>
          <a:xfrm>
            <a:off x="5257800" y="1371600"/>
            <a:ext cx="1280100" cy="868800"/>
          </a:xfrm>
          <a:prstGeom prst="rect">
            <a:avLst/>
          </a:prstGeom>
          <a:solidFill>
            <a:srgbClr val="FF990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Glue Schema</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 Parquet</a:t>
            </a:r>
            <a:endParaRPr/>
          </a:p>
        </p:txBody>
      </p:sp>
      <p:sp>
        <p:nvSpPr>
          <p:cNvPr id="119" name="Google Shape;119;g3ce73ba2ea3_0_0"/>
          <p:cNvSpPr txBox="1"/>
          <p:nvPr/>
        </p:nvSpPr>
        <p:spPr>
          <a:xfrm>
            <a:off x="6537960" y="1627632"/>
            <a:ext cx="320100" cy="365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6B7280"/>
                </a:solidFill>
                <a:latin typeface="Calibri"/>
                <a:ea typeface="Calibri"/>
                <a:cs typeface="Calibri"/>
                <a:sym typeface="Calibri"/>
              </a:rPr>
              <a:t>→</a:t>
            </a:r>
            <a:endParaRPr/>
          </a:p>
        </p:txBody>
      </p:sp>
      <p:sp>
        <p:nvSpPr>
          <p:cNvPr id="120" name="Google Shape;120;g3ce73ba2ea3_0_0"/>
          <p:cNvSpPr/>
          <p:nvPr/>
        </p:nvSpPr>
        <p:spPr>
          <a:xfrm>
            <a:off x="6858000" y="1371600"/>
            <a:ext cx="1280100" cy="868800"/>
          </a:xfrm>
          <a:prstGeom prst="rect">
            <a:avLst/>
          </a:prstGeom>
          <a:solidFill>
            <a:srgbClr val="B8504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S3</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Partitioned</a:t>
            </a:r>
            <a:endParaRPr/>
          </a:p>
        </p:txBody>
      </p:sp>
      <p:sp>
        <p:nvSpPr>
          <p:cNvPr id="121" name="Google Shape;121;g3ce73ba2ea3_0_0"/>
          <p:cNvSpPr txBox="1"/>
          <p:nvPr/>
        </p:nvSpPr>
        <p:spPr>
          <a:xfrm>
            <a:off x="8138160" y="1627632"/>
            <a:ext cx="320100" cy="365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6B7280"/>
                </a:solidFill>
                <a:latin typeface="Calibri"/>
                <a:ea typeface="Calibri"/>
                <a:cs typeface="Calibri"/>
                <a:sym typeface="Calibri"/>
              </a:rPr>
              <a:t>→</a:t>
            </a:r>
            <a:endParaRPr/>
          </a:p>
        </p:txBody>
      </p:sp>
      <p:sp>
        <p:nvSpPr>
          <p:cNvPr id="122" name="Google Shape;122;g3ce73ba2ea3_0_0"/>
          <p:cNvSpPr/>
          <p:nvPr/>
        </p:nvSpPr>
        <p:spPr>
          <a:xfrm>
            <a:off x="8458200" y="1371600"/>
            <a:ext cx="1280100" cy="868800"/>
          </a:xfrm>
          <a:prstGeom prst="rect">
            <a:avLst/>
          </a:prstGeom>
          <a:solidFill>
            <a:srgbClr val="1A3A5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Athena</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Queries</a:t>
            </a:r>
            <a:endParaRPr/>
          </a:p>
        </p:txBody>
      </p:sp>
      <p:sp>
        <p:nvSpPr>
          <p:cNvPr id="123" name="Google Shape;123;g3ce73ba2ea3_0_0"/>
          <p:cNvSpPr txBox="1"/>
          <p:nvPr/>
        </p:nvSpPr>
        <p:spPr>
          <a:xfrm>
            <a:off x="9738360" y="1627632"/>
            <a:ext cx="320100" cy="365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6B7280"/>
                </a:solidFill>
                <a:latin typeface="Calibri"/>
                <a:ea typeface="Calibri"/>
                <a:cs typeface="Calibri"/>
                <a:sym typeface="Calibri"/>
              </a:rPr>
              <a:t>→</a:t>
            </a:r>
            <a:endParaRPr/>
          </a:p>
        </p:txBody>
      </p:sp>
      <p:sp>
        <p:nvSpPr>
          <p:cNvPr id="124" name="Google Shape;124;g3ce73ba2ea3_0_0"/>
          <p:cNvSpPr/>
          <p:nvPr/>
        </p:nvSpPr>
        <p:spPr>
          <a:xfrm>
            <a:off x="10058400" y="1371600"/>
            <a:ext cx="1280100" cy="868800"/>
          </a:xfrm>
          <a:prstGeom prst="rect">
            <a:avLst/>
          </a:prstGeom>
          <a:solidFill>
            <a:srgbClr val="0F1B2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QuickSight</a:t>
            </a:r>
            <a:br>
              <a:rPr b="1" i="0" lang="en-US" sz="1100" u="none" cap="none" strike="noStrike">
                <a:solidFill>
                  <a:srgbClr val="FFFFFF"/>
                </a:solidFill>
                <a:latin typeface="Calibri"/>
                <a:ea typeface="Calibri"/>
                <a:cs typeface="Calibri"/>
                <a:sym typeface="Calibri"/>
              </a:rPr>
            </a:br>
            <a:r>
              <a:rPr b="1" i="0" lang="en-US" sz="1100" u="none" cap="none" strike="noStrike">
                <a:solidFill>
                  <a:srgbClr val="FFFFFF"/>
                </a:solidFill>
                <a:latin typeface="Calibri"/>
                <a:ea typeface="Calibri"/>
                <a:cs typeface="Calibri"/>
                <a:sym typeface="Calibri"/>
              </a:rPr>
              <a:t>Dashboards</a:t>
            </a:r>
            <a:endParaRPr/>
          </a:p>
        </p:txBody>
      </p:sp>
      <p:sp>
        <p:nvSpPr>
          <p:cNvPr id="125" name="Google Shape;125;g3ce73ba2ea3_0_0"/>
          <p:cNvSpPr/>
          <p:nvPr/>
        </p:nvSpPr>
        <p:spPr>
          <a:xfrm>
            <a:off x="457200" y="2834640"/>
            <a:ext cx="5394900" cy="1280100"/>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g3ce73ba2ea3_0_0"/>
          <p:cNvSpPr/>
          <p:nvPr/>
        </p:nvSpPr>
        <p:spPr>
          <a:xfrm>
            <a:off x="457200" y="2834640"/>
            <a:ext cx="54900" cy="1280100"/>
          </a:xfrm>
          <a:prstGeom prst="rect">
            <a:avLst/>
          </a:prstGeom>
          <a:solidFill>
            <a:srgbClr val="0F1B2D"/>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g3ce73ba2ea3_0_0"/>
          <p:cNvSpPr txBox="1"/>
          <p:nvPr/>
        </p:nvSpPr>
        <p:spPr>
          <a:xfrm>
            <a:off x="685800" y="2971800"/>
            <a:ext cx="4937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0F1B2D"/>
                </a:solidFill>
                <a:latin typeface="Calibri"/>
                <a:ea typeface="Calibri"/>
                <a:cs typeface="Calibri"/>
                <a:sym typeface="Calibri"/>
              </a:rPr>
              <a:t>3 Log Groups</a:t>
            </a:r>
            <a:endParaRPr/>
          </a:p>
        </p:txBody>
      </p:sp>
      <p:sp>
        <p:nvSpPr>
          <p:cNvPr id="128" name="Google Shape;128;g3ce73ba2ea3_0_0"/>
          <p:cNvSpPr txBox="1"/>
          <p:nvPr/>
        </p:nvSpPr>
        <p:spPr>
          <a:xfrm>
            <a:off x="685800" y="3337560"/>
            <a:ext cx="4937700" cy="64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chat_logs, feedback_logs, agent_hours</a:t>
            </a:r>
            <a:endParaRPr/>
          </a:p>
        </p:txBody>
      </p:sp>
      <p:sp>
        <p:nvSpPr>
          <p:cNvPr id="129" name="Google Shape;129;g3ce73ba2ea3_0_0"/>
          <p:cNvSpPr/>
          <p:nvPr/>
        </p:nvSpPr>
        <p:spPr>
          <a:xfrm>
            <a:off x="6217920" y="2834640"/>
            <a:ext cx="5394900" cy="1280100"/>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g3ce73ba2ea3_0_0"/>
          <p:cNvSpPr/>
          <p:nvPr/>
        </p:nvSpPr>
        <p:spPr>
          <a:xfrm>
            <a:off x="6217920" y="2834640"/>
            <a:ext cx="54900" cy="1280100"/>
          </a:xfrm>
          <a:prstGeom prst="rect">
            <a:avLst/>
          </a:prstGeom>
          <a:solidFill>
            <a:srgbClr val="065A8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g3ce73ba2ea3_0_0"/>
          <p:cNvSpPr txBox="1"/>
          <p:nvPr/>
        </p:nvSpPr>
        <p:spPr>
          <a:xfrm>
            <a:off x="6446520" y="2971800"/>
            <a:ext cx="4937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065A82"/>
                </a:solidFill>
                <a:latin typeface="Calibri"/>
                <a:ea typeface="Calibri"/>
                <a:cs typeface="Calibri"/>
                <a:sym typeface="Calibri"/>
              </a:rPr>
              <a:t>PII Redaction at Source</a:t>
            </a:r>
            <a:endParaRPr/>
          </a:p>
        </p:txBody>
      </p:sp>
      <p:sp>
        <p:nvSpPr>
          <p:cNvPr id="132" name="Google Shape;132;g3ce73ba2ea3_0_0"/>
          <p:cNvSpPr txBox="1"/>
          <p:nvPr/>
        </p:nvSpPr>
        <p:spPr>
          <a:xfrm>
            <a:off x="6446520" y="3337560"/>
            <a:ext cx="4937700" cy="64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CloudWatch Data Protection redacts</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SSN, emails, DOB before delivery</a:t>
            </a:r>
            <a:endParaRPr/>
          </a:p>
        </p:txBody>
      </p:sp>
      <p:sp>
        <p:nvSpPr>
          <p:cNvPr id="133" name="Google Shape;133;g3ce73ba2ea3_0_0"/>
          <p:cNvSpPr/>
          <p:nvPr/>
        </p:nvSpPr>
        <p:spPr>
          <a:xfrm>
            <a:off x="457200" y="4389120"/>
            <a:ext cx="5394900" cy="1280100"/>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g3ce73ba2ea3_0_0"/>
          <p:cNvSpPr/>
          <p:nvPr/>
        </p:nvSpPr>
        <p:spPr>
          <a:xfrm>
            <a:off x="457200" y="4389120"/>
            <a:ext cx="54900" cy="1280100"/>
          </a:xfrm>
          <a:prstGeom prst="rect">
            <a:avLst/>
          </a:prstGeom>
          <a:solidFill>
            <a:srgbClr val="00A89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g3ce73ba2ea3_0_0"/>
          <p:cNvSpPr txBox="1"/>
          <p:nvPr/>
        </p:nvSpPr>
        <p:spPr>
          <a:xfrm>
            <a:off x="685800" y="4526280"/>
            <a:ext cx="4937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00A896"/>
                </a:solidFill>
                <a:latin typeface="Calibri"/>
                <a:ea typeface="Calibri"/>
                <a:cs typeface="Calibri"/>
                <a:sym typeface="Calibri"/>
              </a:rPr>
              <a:t>4 Firehose Streams</a:t>
            </a:r>
            <a:endParaRPr/>
          </a:p>
        </p:txBody>
      </p:sp>
      <p:sp>
        <p:nvSpPr>
          <p:cNvPr id="136" name="Google Shape;136;g3ce73ba2ea3_0_0"/>
          <p:cNvSpPr txBox="1"/>
          <p:nvPr/>
        </p:nvSpPr>
        <p:spPr>
          <a:xfrm>
            <a:off x="685800" y="4892040"/>
            <a:ext cx="4937700" cy="64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JSON extraction, timestamp enrichment,</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Parquet conversion via Glue schemas</a:t>
            </a:r>
            <a:endParaRPr/>
          </a:p>
        </p:txBody>
      </p:sp>
      <p:sp>
        <p:nvSpPr>
          <p:cNvPr id="137" name="Google Shape;137;g3ce73ba2ea3_0_0"/>
          <p:cNvSpPr/>
          <p:nvPr/>
        </p:nvSpPr>
        <p:spPr>
          <a:xfrm>
            <a:off x="6217920" y="4389120"/>
            <a:ext cx="5394900" cy="1280100"/>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g3ce73ba2ea3_0_0"/>
          <p:cNvSpPr/>
          <p:nvPr/>
        </p:nvSpPr>
        <p:spPr>
          <a:xfrm>
            <a:off x="6217920" y="4389120"/>
            <a:ext cx="54900" cy="1280100"/>
          </a:xfrm>
          <a:prstGeom prst="rect">
            <a:avLst/>
          </a:prstGeom>
          <a:solidFill>
            <a:srgbClr val="FF990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g3ce73ba2ea3_0_0"/>
          <p:cNvSpPr txBox="1"/>
          <p:nvPr/>
        </p:nvSpPr>
        <p:spPr>
          <a:xfrm>
            <a:off x="6446520" y="4526280"/>
            <a:ext cx="4937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FF9900"/>
                </a:solidFill>
                <a:latin typeface="Calibri"/>
                <a:ea typeface="Calibri"/>
                <a:cs typeface="Calibri"/>
                <a:sym typeface="Calibri"/>
              </a:rPr>
              <a:t>Hive-Style Partitioning</a:t>
            </a:r>
            <a:endParaRPr/>
          </a:p>
        </p:txBody>
      </p:sp>
      <p:sp>
        <p:nvSpPr>
          <p:cNvPr id="140" name="Google Shape;140;g3ce73ba2ea3_0_0"/>
          <p:cNvSpPr txBox="1"/>
          <p:nvPr/>
        </p:nvSpPr>
        <p:spPr>
          <a:xfrm>
            <a:off x="6446520" y="4892040"/>
            <a:ext cx="4937700" cy="64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year=/month=/day=/hour=</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for fast, cost-effective Athena queries</a:t>
            </a:r>
            <a:endParaRPr/>
          </a:p>
        </p:txBody>
      </p:sp>
      <p:sp>
        <p:nvSpPr>
          <p:cNvPr id="141" name="Google Shape;141;g3ce73ba2ea3_0_0"/>
          <p:cNvSpPr txBox="1"/>
          <p:nvPr/>
        </p:nvSpPr>
        <p:spPr>
          <a:xfrm>
            <a:off x="457200" y="6126480"/>
            <a:ext cx="10972800" cy="365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chat_logs has two subscription filters: one for the main table (PII stripped) and one for chat_conversations (PII redacted, with join keys)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sp>
        <p:nvSpPr>
          <p:cNvPr id="147" name="Google Shape;147;p4"/>
          <p:cNvSpPr txBox="1"/>
          <p:nvPr/>
        </p:nvSpPr>
        <p:spPr>
          <a:xfrm>
            <a:off x="731520" y="365760"/>
            <a:ext cx="914400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3200" u="none" cap="none" strike="noStrike">
                <a:solidFill>
                  <a:srgbClr val="0F1B2D"/>
                </a:solidFill>
                <a:latin typeface="Calibri"/>
                <a:ea typeface="Calibri"/>
                <a:cs typeface="Calibri"/>
                <a:sym typeface="Calibri"/>
              </a:rPr>
              <a:t>Architecture Reference</a:t>
            </a:r>
            <a:endParaRPr/>
          </a:p>
        </p:txBody>
      </p:sp>
      <p:sp>
        <p:nvSpPr>
          <p:cNvPr id="148" name="Google Shape;148;p4"/>
          <p:cNvSpPr txBox="1"/>
          <p:nvPr/>
        </p:nvSpPr>
        <p:spPr>
          <a:xfrm>
            <a:off x="731520" y="960120"/>
            <a:ext cx="73152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300" u="none" cap="none" strike="noStrike">
                <a:solidFill>
                  <a:srgbClr val="6B7280"/>
                </a:solidFill>
                <a:latin typeface="Calibri"/>
                <a:ea typeface="Calibri"/>
                <a:cs typeface="Calibri"/>
                <a:sym typeface="Calibri"/>
              </a:rPr>
              <a:t>Pipeline flow for documentation and reference</a:t>
            </a:r>
            <a:endParaRPr/>
          </a:p>
        </p:txBody>
      </p:sp>
      <p:sp>
        <p:nvSpPr>
          <p:cNvPr id="149" name="Google Shape;149;p4"/>
          <p:cNvSpPr/>
          <p:nvPr/>
        </p:nvSpPr>
        <p:spPr>
          <a:xfrm>
            <a:off x="731520" y="1463040"/>
            <a:ext cx="10698480" cy="2926080"/>
          </a:xfrm>
          <a:prstGeom prst="rect">
            <a:avLst/>
          </a:prstGeom>
          <a:solidFill>
            <a:srgbClr val="F7F8FA"/>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4"/>
          <p:cNvSpPr txBox="1"/>
          <p:nvPr/>
        </p:nvSpPr>
        <p:spPr>
          <a:xfrm>
            <a:off x="1005840" y="1645920"/>
            <a:ext cx="10058400" cy="2560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400" u="none" cap="none" strike="noStrike">
                <a:solidFill>
                  <a:srgbClr val="1E2761"/>
                </a:solidFill>
                <a:latin typeface="Consolas"/>
                <a:ea typeface="Consolas"/>
                <a:cs typeface="Consolas"/>
                <a:sym typeface="Consolas"/>
              </a:rPr>
              <a:t>CloudWatch Logs</a:t>
            </a:r>
            <a:br>
              <a:rPr b="0" i="0" lang="en-US" sz="1400" u="none" cap="none" strike="noStrike">
                <a:solidFill>
                  <a:srgbClr val="1E2761"/>
                </a:solidFill>
                <a:latin typeface="Consolas"/>
                <a:ea typeface="Consolas"/>
                <a:cs typeface="Consolas"/>
                <a:sym typeface="Consolas"/>
              </a:rPr>
            </a:br>
            <a:r>
              <a:rPr b="0" i="0" lang="en-US" sz="1400" u="none" cap="none" strike="noStrike">
                <a:solidFill>
                  <a:srgbClr val="1E2761"/>
                </a:solidFill>
                <a:latin typeface="Consolas"/>
                <a:ea typeface="Consolas"/>
                <a:cs typeface="Consolas"/>
                <a:sym typeface="Consolas"/>
              </a:rPr>
              <a:t>  → Subscription Filter</a:t>
            </a:r>
            <a:br>
              <a:rPr b="0" i="0" lang="en-US" sz="1400" u="none" cap="none" strike="noStrike">
                <a:solidFill>
                  <a:srgbClr val="1E2761"/>
                </a:solidFill>
                <a:latin typeface="Consolas"/>
                <a:ea typeface="Consolas"/>
                <a:cs typeface="Consolas"/>
                <a:sym typeface="Consolas"/>
              </a:rPr>
            </a:br>
            <a:r>
              <a:rPr b="0" i="0" lang="en-US" sz="1400" u="none" cap="none" strike="noStrike">
                <a:solidFill>
                  <a:srgbClr val="1E2761"/>
                </a:solidFill>
                <a:latin typeface="Consolas"/>
                <a:ea typeface="Consolas"/>
                <a:cs typeface="Consolas"/>
                <a:sym typeface="Consolas"/>
              </a:rPr>
              <a:t>  → Kinesis Firehose (Lambda processor: JSON extraction + enrichment)</a:t>
            </a:r>
            <a:br>
              <a:rPr b="0" i="0" lang="en-US" sz="1400" u="none" cap="none" strike="noStrike">
                <a:solidFill>
                  <a:srgbClr val="1E2761"/>
                </a:solidFill>
                <a:latin typeface="Consolas"/>
                <a:ea typeface="Consolas"/>
                <a:cs typeface="Consolas"/>
                <a:sym typeface="Consolas"/>
              </a:rPr>
            </a:br>
            <a:r>
              <a:rPr b="0" i="0" lang="en-US" sz="1400" u="none" cap="none" strike="noStrike">
                <a:solidFill>
                  <a:srgbClr val="1E2761"/>
                </a:solidFill>
                <a:latin typeface="Consolas"/>
                <a:ea typeface="Consolas"/>
                <a:cs typeface="Consolas"/>
                <a:sym typeface="Consolas"/>
              </a:rPr>
              <a:t>  → Glue Schema Validation → Parquet Conversion</a:t>
            </a:r>
            <a:br>
              <a:rPr b="0" i="0" lang="en-US" sz="1400" u="none" cap="none" strike="noStrike">
                <a:solidFill>
                  <a:srgbClr val="1E2761"/>
                </a:solidFill>
                <a:latin typeface="Consolas"/>
                <a:ea typeface="Consolas"/>
                <a:cs typeface="Consolas"/>
                <a:sym typeface="Consolas"/>
              </a:rPr>
            </a:br>
            <a:r>
              <a:rPr b="0" i="0" lang="en-US" sz="1400" u="none" cap="none" strike="noStrike">
                <a:solidFill>
                  <a:srgbClr val="1E2761"/>
                </a:solidFill>
                <a:latin typeface="Consolas"/>
                <a:ea typeface="Consolas"/>
                <a:cs typeface="Consolas"/>
                <a:sym typeface="Consolas"/>
              </a:rPr>
              <a:t>  → S3 (Hive partitioned: year=/month=/day=/hour=)</a:t>
            </a:r>
            <a:br>
              <a:rPr b="0" i="0" lang="en-US" sz="1400" u="none" cap="none" strike="noStrike">
                <a:solidFill>
                  <a:srgbClr val="1E2761"/>
                </a:solidFill>
                <a:latin typeface="Consolas"/>
                <a:ea typeface="Consolas"/>
                <a:cs typeface="Consolas"/>
                <a:sym typeface="Consolas"/>
              </a:rPr>
            </a:br>
            <a:r>
              <a:rPr b="0" i="0" lang="en-US" sz="1400" u="none" cap="none" strike="noStrike">
                <a:solidFill>
                  <a:srgbClr val="1E2761"/>
                </a:solidFill>
                <a:latin typeface="Consolas"/>
                <a:ea typeface="Consolas"/>
                <a:cs typeface="Consolas"/>
                <a:sym typeface="Consolas"/>
              </a:rPr>
              <a:t>  → Glue Partition Lambda (auto-registers partitions)</a:t>
            </a:r>
            <a:br>
              <a:rPr b="0" i="0" lang="en-US" sz="1400" u="none" cap="none" strike="noStrike">
                <a:solidFill>
                  <a:srgbClr val="1E2761"/>
                </a:solidFill>
                <a:latin typeface="Consolas"/>
                <a:ea typeface="Consolas"/>
                <a:cs typeface="Consolas"/>
                <a:sym typeface="Consolas"/>
              </a:rPr>
            </a:br>
            <a:r>
              <a:rPr b="0" i="0" lang="en-US" sz="1400" u="none" cap="none" strike="noStrike">
                <a:solidFill>
                  <a:srgbClr val="1E2761"/>
                </a:solidFill>
                <a:latin typeface="Consolas"/>
                <a:ea typeface="Consolas"/>
                <a:cs typeface="Consolas"/>
                <a:sym typeface="Consolas"/>
              </a:rPr>
              <a:t>  → Athena (SQL queries via Glue catalog)</a:t>
            </a:r>
            <a:br>
              <a:rPr b="0" i="0" lang="en-US" sz="1400" u="none" cap="none" strike="noStrike">
                <a:solidFill>
                  <a:srgbClr val="1E2761"/>
                </a:solidFill>
                <a:latin typeface="Consolas"/>
                <a:ea typeface="Consolas"/>
                <a:cs typeface="Consolas"/>
                <a:sym typeface="Consolas"/>
              </a:rPr>
            </a:br>
            <a:r>
              <a:rPr b="0" i="0" lang="en-US" sz="1400" u="none" cap="none" strike="noStrike">
                <a:solidFill>
                  <a:srgbClr val="1E2761"/>
                </a:solidFill>
                <a:latin typeface="Consolas"/>
                <a:ea typeface="Consolas"/>
                <a:cs typeface="Consolas"/>
                <a:sym typeface="Consolas"/>
              </a:rPr>
              <a:t>  → QuickSight (dashboards, 4 datasets)</a:t>
            </a:r>
            <a:endParaRPr/>
          </a:p>
        </p:txBody>
      </p:sp>
      <p:sp>
        <p:nvSpPr>
          <p:cNvPr id="151" name="Google Shape;151;p4"/>
          <p:cNvSpPr txBox="1"/>
          <p:nvPr/>
        </p:nvSpPr>
        <p:spPr>
          <a:xfrm>
            <a:off x="731520" y="4754880"/>
            <a:ext cx="100584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0F1B2D"/>
                </a:solidFill>
                <a:latin typeface="Calibri"/>
                <a:ea typeface="Calibri"/>
                <a:cs typeface="Calibri"/>
                <a:sym typeface="Calibri"/>
              </a:rPr>
              <a:t>Log Groups and Table Mapping</a:t>
            </a:r>
            <a:endParaRPr/>
          </a:p>
        </p:txBody>
      </p:sp>
      <p:sp>
        <p:nvSpPr>
          <p:cNvPr id="152" name="Google Shape;152;p4"/>
          <p:cNvSpPr txBox="1"/>
          <p:nvPr/>
        </p:nvSpPr>
        <p:spPr>
          <a:xfrm>
            <a:off x="1005840" y="5120640"/>
            <a:ext cx="100584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6B7280"/>
                </a:solidFill>
                <a:latin typeface="Consolas"/>
                <a:ea typeface="Consolas"/>
                <a:cs typeface="Consolas"/>
                <a:sym typeface="Consolas"/>
              </a:rPr>
              <a:t>chat_logs  →  chat-logs-firehose  →  S3: chat_logs/  →  Glue: chat_logs (PII fields stripped)</a:t>
            </a:r>
            <a:endParaRPr/>
          </a:p>
        </p:txBody>
      </p:sp>
      <p:sp>
        <p:nvSpPr>
          <p:cNvPr id="153" name="Google Shape;153;p4"/>
          <p:cNvSpPr txBox="1"/>
          <p:nvPr/>
        </p:nvSpPr>
        <p:spPr>
          <a:xfrm>
            <a:off x="1005840" y="5413248"/>
            <a:ext cx="100584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6B7280"/>
                </a:solidFill>
                <a:latin typeface="Consolas"/>
                <a:ea typeface="Consolas"/>
                <a:cs typeface="Consolas"/>
                <a:sym typeface="Consolas"/>
              </a:rPr>
              <a:t>chat_logs  →  chat-conversations-firehose  →  S3: chat_conversations/  →  Glue: chat_conversations (PII redacted, join keys)</a:t>
            </a:r>
            <a:endParaRPr/>
          </a:p>
        </p:txBody>
      </p:sp>
      <p:sp>
        <p:nvSpPr>
          <p:cNvPr id="154" name="Google Shape;154;p4"/>
          <p:cNvSpPr txBox="1"/>
          <p:nvPr/>
        </p:nvSpPr>
        <p:spPr>
          <a:xfrm>
            <a:off x="1005840" y="5705856"/>
            <a:ext cx="100584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6B7280"/>
                </a:solidFill>
                <a:latin typeface="Consolas"/>
                <a:ea typeface="Consolas"/>
                <a:cs typeface="Consolas"/>
                <a:sym typeface="Consolas"/>
              </a:rPr>
              <a:t>feedback_logs  →  feedback-logs-firehose  →  S3: feedback_logs/  →  Glue: feedback_logs</a:t>
            </a:r>
            <a:endParaRPr/>
          </a:p>
        </p:txBody>
      </p:sp>
      <p:sp>
        <p:nvSpPr>
          <p:cNvPr id="155" name="Google Shape;155;p4"/>
          <p:cNvSpPr txBox="1"/>
          <p:nvPr/>
        </p:nvSpPr>
        <p:spPr>
          <a:xfrm>
            <a:off x="1005840" y="5998464"/>
            <a:ext cx="100584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000" u="none" cap="none" strike="noStrike">
                <a:solidFill>
                  <a:srgbClr val="6B7280"/>
                </a:solidFill>
                <a:latin typeface="Consolas"/>
                <a:ea typeface="Consolas"/>
                <a:cs typeface="Consolas"/>
                <a:sym typeface="Consolas"/>
              </a:rPr>
              <a:t>agent_hours  →  agent-hours-firehose  →  S3: agent_hours/  →  Glue: agent_hours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3"/>
          <p:cNvSpPr txBox="1"/>
          <p:nvPr/>
        </p:nvSpPr>
        <p:spPr>
          <a:xfrm>
            <a:off x="731520" y="365760"/>
            <a:ext cx="914400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3200" u="none" cap="none" strike="noStrike">
                <a:solidFill>
                  <a:srgbClr val="0F1B2D"/>
                </a:solidFill>
                <a:latin typeface="Calibri"/>
                <a:ea typeface="Calibri"/>
                <a:cs typeface="Calibri"/>
                <a:sym typeface="Calibri"/>
              </a:rPr>
              <a:t>Architecture Overview</a:t>
            </a:r>
            <a:endParaRPr/>
          </a:p>
        </p:txBody>
      </p:sp>
      <p:sp>
        <p:nvSpPr>
          <p:cNvPr id="162" name="Google Shape;162;p3"/>
          <p:cNvSpPr/>
          <p:nvPr/>
        </p:nvSpPr>
        <p:spPr>
          <a:xfrm>
            <a:off x="731520" y="960120"/>
            <a:ext cx="1828800" cy="36576"/>
          </a:xfrm>
          <a:prstGeom prst="rect">
            <a:avLst/>
          </a:prstGeom>
          <a:solidFill>
            <a:srgbClr val="FF99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63" name="Google Shape;163;p3"/>
          <p:cNvPicPr preferRelativeResize="0"/>
          <p:nvPr/>
        </p:nvPicPr>
        <p:blipFill>
          <a:blip r:embed="rId3">
            <a:alphaModFix/>
          </a:blip>
          <a:stretch>
            <a:fillRect/>
          </a:stretch>
        </p:blipFill>
        <p:spPr>
          <a:xfrm>
            <a:off x="5954600" y="184550"/>
            <a:ext cx="5449499" cy="641219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5"/>
          <p:cNvSpPr txBox="1"/>
          <p:nvPr/>
        </p:nvSpPr>
        <p:spPr>
          <a:xfrm>
            <a:off x="731520" y="365760"/>
            <a:ext cx="914400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3200" u="none" cap="none" strike="noStrike">
                <a:solidFill>
                  <a:srgbClr val="0F1B2D"/>
                </a:solidFill>
                <a:latin typeface="Calibri"/>
                <a:ea typeface="Calibri"/>
                <a:cs typeface="Calibri"/>
                <a:sym typeface="Calibri"/>
              </a:rPr>
              <a:t>Four Glue Tables</a:t>
            </a:r>
            <a:endParaRPr/>
          </a:p>
        </p:txBody>
      </p:sp>
      <p:sp>
        <p:nvSpPr>
          <p:cNvPr id="170" name="Google Shape;170;p5"/>
          <p:cNvSpPr/>
          <p:nvPr/>
        </p:nvSpPr>
        <p:spPr>
          <a:xfrm>
            <a:off x="731520" y="960120"/>
            <a:ext cx="1828800" cy="36576"/>
          </a:xfrm>
          <a:prstGeom prst="rect">
            <a:avLst/>
          </a:prstGeom>
          <a:solidFill>
            <a:srgbClr val="FF99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5"/>
          <p:cNvSpPr/>
          <p:nvPr/>
        </p:nvSpPr>
        <p:spPr>
          <a:xfrm>
            <a:off x="457200" y="1371600"/>
            <a:ext cx="2697480" cy="3200400"/>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5"/>
          <p:cNvSpPr/>
          <p:nvPr/>
        </p:nvSpPr>
        <p:spPr>
          <a:xfrm>
            <a:off x="457200" y="1371600"/>
            <a:ext cx="2697480" cy="54864"/>
          </a:xfrm>
          <a:prstGeom prst="rect">
            <a:avLst/>
          </a:prstGeom>
          <a:solidFill>
            <a:srgbClr val="0F1B2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5"/>
          <p:cNvSpPr txBox="1"/>
          <p:nvPr/>
        </p:nvSpPr>
        <p:spPr>
          <a:xfrm>
            <a:off x="640080" y="1554480"/>
            <a:ext cx="22860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0F1B2D"/>
                </a:solidFill>
                <a:latin typeface="Consolas"/>
                <a:ea typeface="Consolas"/>
                <a:cs typeface="Consolas"/>
                <a:sym typeface="Consolas"/>
              </a:rPr>
              <a:t>chat_logs</a:t>
            </a:r>
            <a:endParaRPr/>
          </a:p>
        </p:txBody>
      </p:sp>
      <p:sp>
        <p:nvSpPr>
          <p:cNvPr id="174" name="Google Shape;174;p5"/>
          <p:cNvSpPr txBox="1"/>
          <p:nvPr/>
        </p:nvSpPr>
        <p:spPr>
          <a:xfrm>
            <a:off x="640080" y="1965960"/>
            <a:ext cx="2286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0F1B2D"/>
                </a:solidFill>
                <a:latin typeface="Calibri"/>
                <a:ea typeface="Calibri"/>
                <a:cs typeface="Calibri"/>
                <a:sym typeface="Calibri"/>
              </a:rPr>
              <a:t>Main chat analytics</a:t>
            </a:r>
            <a:endParaRPr/>
          </a:p>
        </p:txBody>
      </p:sp>
      <p:sp>
        <p:nvSpPr>
          <p:cNvPr id="175" name="Google Shape;175;p5"/>
          <p:cNvSpPr txBox="1"/>
          <p:nvPr/>
        </p:nvSpPr>
        <p:spPr>
          <a:xfrm>
            <a:off x="640080" y="2331720"/>
            <a:ext cx="2286000" cy="182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PII fields stripped</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Latency, TTFT, resources,</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connectors, file attachments</a:t>
            </a:r>
            <a:endParaRPr/>
          </a:p>
        </p:txBody>
      </p:sp>
      <p:sp>
        <p:nvSpPr>
          <p:cNvPr id="176" name="Google Shape;176;p5"/>
          <p:cNvSpPr/>
          <p:nvPr/>
        </p:nvSpPr>
        <p:spPr>
          <a:xfrm>
            <a:off x="3337560" y="1371600"/>
            <a:ext cx="2697480" cy="3200400"/>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5"/>
          <p:cNvSpPr/>
          <p:nvPr/>
        </p:nvSpPr>
        <p:spPr>
          <a:xfrm>
            <a:off x="3337560" y="1371600"/>
            <a:ext cx="2697480" cy="54864"/>
          </a:xfrm>
          <a:prstGeom prst="rect">
            <a:avLst/>
          </a:prstGeom>
          <a:solidFill>
            <a:srgbClr val="065A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5"/>
          <p:cNvSpPr txBox="1"/>
          <p:nvPr/>
        </p:nvSpPr>
        <p:spPr>
          <a:xfrm>
            <a:off x="3520440" y="1554480"/>
            <a:ext cx="22860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065A82"/>
                </a:solidFill>
                <a:latin typeface="Consolas"/>
                <a:ea typeface="Consolas"/>
                <a:cs typeface="Consolas"/>
                <a:sym typeface="Consolas"/>
              </a:rPr>
              <a:t>chat_conversations</a:t>
            </a:r>
            <a:endParaRPr/>
          </a:p>
        </p:txBody>
      </p:sp>
      <p:sp>
        <p:nvSpPr>
          <p:cNvPr id="179" name="Google Shape;179;p5"/>
          <p:cNvSpPr txBox="1"/>
          <p:nvPr/>
        </p:nvSpPr>
        <p:spPr>
          <a:xfrm>
            <a:off x="3520440" y="1965960"/>
            <a:ext cx="2286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0F1B2D"/>
                </a:solidFill>
                <a:latin typeface="Calibri"/>
                <a:ea typeface="Calibri"/>
                <a:cs typeface="Calibri"/>
                <a:sym typeface="Calibri"/>
              </a:rPr>
              <a:t>PII-isolated content</a:t>
            </a:r>
            <a:endParaRPr/>
          </a:p>
        </p:txBody>
      </p:sp>
      <p:sp>
        <p:nvSpPr>
          <p:cNvPr id="180" name="Google Shape;180;p5"/>
          <p:cNvSpPr txBox="1"/>
          <p:nvPr/>
        </p:nvSpPr>
        <p:spPr>
          <a:xfrm>
            <a:off x="3520440" y="2331720"/>
            <a:ext cx="2286000" cy="182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user_message +</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system_text_message</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(redacted by CloudWatch)</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Join keys for reconstruction</a:t>
            </a:r>
            <a:endParaRPr/>
          </a:p>
        </p:txBody>
      </p:sp>
      <p:sp>
        <p:nvSpPr>
          <p:cNvPr id="181" name="Google Shape;181;p5"/>
          <p:cNvSpPr/>
          <p:nvPr/>
        </p:nvSpPr>
        <p:spPr>
          <a:xfrm>
            <a:off x="6217920" y="1371600"/>
            <a:ext cx="2697480" cy="3200400"/>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5"/>
          <p:cNvSpPr/>
          <p:nvPr/>
        </p:nvSpPr>
        <p:spPr>
          <a:xfrm>
            <a:off x="6217920" y="1371600"/>
            <a:ext cx="2697480" cy="54864"/>
          </a:xfrm>
          <a:prstGeom prst="rect">
            <a:avLst/>
          </a:prstGeom>
          <a:solidFill>
            <a:srgbClr val="00A89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5"/>
          <p:cNvSpPr txBox="1"/>
          <p:nvPr/>
        </p:nvSpPr>
        <p:spPr>
          <a:xfrm>
            <a:off x="6400800" y="1554480"/>
            <a:ext cx="22860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00A896"/>
                </a:solidFill>
                <a:latin typeface="Consolas"/>
                <a:ea typeface="Consolas"/>
                <a:cs typeface="Consolas"/>
                <a:sym typeface="Consolas"/>
              </a:rPr>
              <a:t>feedback_logs</a:t>
            </a:r>
            <a:endParaRPr/>
          </a:p>
        </p:txBody>
      </p:sp>
      <p:sp>
        <p:nvSpPr>
          <p:cNvPr id="184" name="Google Shape;184;p5"/>
          <p:cNvSpPr txBox="1"/>
          <p:nvPr/>
        </p:nvSpPr>
        <p:spPr>
          <a:xfrm>
            <a:off x="6400800" y="1965960"/>
            <a:ext cx="2286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0F1B2D"/>
                </a:solidFill>
                <a:latin typeface="Calibri"/>
                <a:ea typeface="Calibri"/>
                <a:cs typeface="Calibri"/>
                <a:sym typeface="Calibri"/>
              </a:rPr>
              <a:t>User feedback</a:t>
            </a:r>
            <a:endParaRPr/>
          </a:p>
        </p:txBody>
      </p:sp>
      <p:sp>
        <p:nvSpPr>
          <p:cNvPr id="185" name="Google Shape;185;p5"/>
          <p:cNvSpPr txBox="1"/>
          <p:nvPr/>
        </p:nvSpPr>
        <p:spPr>
          <a:xfrm>
            <a:off x="6400800" y="2331720"/>
            <a:ext cx="2286000" cy="182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Thumbs up/down, reasons,</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feedback details,</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linked to conversations</a:t>
            </a:r>
            <a:endParaRPr/>
          </a:p>
        </p:txBody>
      </p:sp>
      <p:sp>
        <p:nvSpPr>
          <p:cNvPr id="186" name="Google Shape;186;p5"/>
          <p:cNvSpPr/>
          <p:nvPr/>
        </p:nvSpPr>
        <p:spPr>
          <a:xfrm>
            <a:off x="9098280" y="1371600"/>
            <a:ext cx="2697480" cy="3200400"/>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5"/>
          <p:cNvSpPr/>
          <p:nvPr/>
        </p:nvSpPr>
        <p:spPr>
          <a:xfrm>
            <a:off x="9098280" y="1371600"/>
            <a:ext cx="2697480" cy="54864"/>
          </a:xfrm>
          <a:prstGeom prst="rect">
            <a:avLst/>
          </a:prstGeom>
          <a:solidFill>
            <a:srgbClr val="FF99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5"/>
          <p:cNvSpPr txBox="1"/>
          <p:nvPr/>
        </p:nvSpPr>
        <p:spPr>
          <a:xfrm>
            <a:off x="9281160" y="1554480"/>
            <a:ext cx="22860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FF9900"/>
                </a:solidFill>
                <a:latin typeface="Consolas"/>
                <a:ea typeface="Consolas"/>
                <a:cs typeface="Consolas"/>
                <a:sym typeface="Consolas"/>
              </a:rPr>
              <a:t>agent_hours</a:t>
            </a:r>
            <a:endParaRPr/>
          </a:p>
        </p:txBody>
      </p:sp>
      <p:sp>
        <p:nvSpPr>
          <p:cNvPr id="189" name="Google Shape;189;p5"/>
          <p:cNvSpPr txBox="1"/>
          <p:nvPr/>
        </p:nvSpPr>
        <p:spPr>
          <a:xfrm>
            <a:off x="9281160" y="1965960"/>
            <a:ext cx="2286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0F1B2D"/>
                </a:solidFill>
                <a:latin typeface="Calibri"/>
                <a:ea typeface="Calibri"/>
                <a:cs typeface="Calibri"/>
                <a:sym typeface="Calibri"/>
              </a:rPr>
              <a:t>Metered usage</a:t>
            </a:r>
            <a:endParaRPr/>
          </a:p>
        </p:txBody>
      </p:sp>
      <p:sp>
        <p:nvSpPr>
          <p:cNvPr id="190" name="Google Shape;190;p5"/>
          <p:cNvSpPr txBox="1"/>
          <p:nvPr/>
        </p:nvSpPr>
        <p:spPr>
          <a:xfrm>
            <a:off x="9281160" y="2331720"/>
            <a:ext cx="2286000" cy="182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Subscription type, usage hours,</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service resource ARN,</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usage group tracking</a:t>
            </a:r>
            <a:endParaRPr/>
          </a:p>
        </p:txBody>
      </p:sp>
      <p:sp>
        <p:nvSpPr>
          <p:cNvPr id="191" name="Google Shape;191;p5"/>
          <p:cNvSpPr txBox="1"/>
          <p:nvPr/>
        </p:nvSpPr>
        <p:spPr>
          <a:xfrm>
            <a:off x="457200" y="5029200"/>
            <a:ext cx="1097280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6B7280"/>
                </a:solidFill>
                <a:latin typeface="Calibri"/>
                <a:ea typeface="Calibri"/>
                <a:cs typeface="Calibri"/>
                <a:sym typeface="Calibri"/>
              </a:rPr>
              <a:t>All tables share Hive-style partitioning (year=/month=/day=/hour=) and are queryable via Athena through the Glue catalog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6"/>
          <p:cNvSpPr txBox="1"/>
          <p:nvPr/>
        </p:nvSpPr>
        <p:spPr>
          <a:xfrm>
            <a:off x="731520" y="365760"/>
            <a:ext cx="914400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3200" u="none" cap="none" strike="noStrike">
                <a:solidFill>
                  <a:srgbClr val="0F1B2D"/>
                </a:solidFill>
                <a:latin typeface="Calibri"/>
                <a:ea typeface="Calibri"/>
                <a:cs typeface="Calibri"/>
                <a:sym typeface="Calibri"/>
              </a:rPr>
              <a:t>PII Separation Architecture</a:t>
            </a:r>
            <a:endParaRPr/>
          </a:p>
        </p:txBody>
      </p:sp>
      <p:sp>
        <p:nvSpPr>
          <p:cNvPr id="198" name="Google Shape;198;p6"/>
          <p:cNvSpPr/>
          <p:nvPr/>
        </p:nvSpPr>
        <p:spPr>
          <a:xfrm>
            <a:off x="731520" y="960120"/>
            <a:ext cx="1828800" cy="36576"/>
          </a:xfrm>
          <a:prstGeom prst="rect">
            <a:avLst/>
          </a:prstGeom>
          <a:solidFill>
            <a:srgbClr val="FF99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6"/>
          <p:cNvSpPr/>
          <p:nvPr/>
        </p:nvSpPr>
        <p:spPr>
          <a:xfrm>
            <a:off x="457200" y="1371600"/>
            <a:ext cx="5303520" cy="3200400"/>
          </a:xfrm>
          <a:prstGeom prst="rect">
            <a:avLst/>
          </a:prstGeom>
          <a:solidFill>
            <a:srgbClr val="F7F8FA"/>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6"/>
          <p:cNvSpPr txBox="1"/>
          <p:nvPr/>
        </p:nvSpPr>
        <p:spPr>
          <a:xfrm>
            <a:off x="731520" y="1508760"/>
            <a:ext cx="45720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u="none" cap="none" strike="noStrike">
                <a:solidFill>
                  <a:srgbClr val="0F1B2D"/>
                </a:solidFill>
                <a:latin typeface="Calibri"/>
                <a:ea typeface="Calibri"/>
                <a:cs typeface="Calibri"/>
                <a:sym typeface="Calibri"/>
              </a:rPr>
              <a:t>Path 1: Main Analytics</a:t>
            </a:r>
            <a:endParaRPr/>
          </a:p>
        </p:txBody>
      </p:sp>
      <p:sp>
        <p:nvSpPr>
          <p:cNvPr id="201" name="Google Shape;201;p6"/>
          <p:cNvSpPr txBox="1"/>
          <p:nvPr/>
        </p:nvSpPr>
        <p:spPr>
          <a:xfrm>
            <a:off x="822960" y="1965960"/>
            <a:ext cx="4572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onsolas"/>
                <a:ea typeface="Consolas"/>
                <a:cs typeface="Consolas"/>
                <a:sym typeface="Consolas"/>
              </a:rPr>
              <a:t>CloudWatch chat_logs log group</a:t>
            </a:r>
            <a:endParaRPr/>
          </a:p>
        </p:txBody>
      </p:sp>
      <p:sp>
        <p:nvSpPr>
          <p:cNvPr id="202" name="Google Shape;202;p6"/>
          <p:cNvSpPr txBox="1"/>
          <p:nvPr/>
        </p:nvSpPr>
        <p:spPr>
          <a:xfrm>
            <a:off x="822960" y="2286000"/>
            <a:ext cx="4572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onsolas"/>
                <a:ea typeface="Consolas"/>
                <a:cs typeface="Consolas"/>
                <a:sym typeface="Consolas"/>
              </a:rPr>
              <a:t>→  Subscription filter strips PII fields</a:t>
            </a:r>
            <a:endParaRPr/>
          </a:p>
        </p:txBody>
      </p:sp>
      <p:sp>
        <p:nvSpPr>
          <p:cNvPr id="203" name="Google Shape;203;p6"/>
          <p:cNvSpPr txBox="1"/>
          <p:nvPr/>
        </p:nvSpPr>
        <p:spPr>
          <a:xfrm>
            <a:off x="822960" y="2606040"/>
            <a:ext cx="4572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onsolas"/>
                <a:ea typeface="Consolas"/>
                <a:cs typeface="Consolas"/>
                <a:sym typeface="Consolas"/>
              </a:rPr>
              <a:t>→  Firehose: chat-logs-firehose</a:t>
            </a:r>
            <a:endParaRPr/>
          </a:p>
        </p:txBody>
      </p:sp>
      <p:sp>
        <p:nvSpPr>
          <p:cNvPr id="204" name="Google Shape;204;p6"/>
          <p:cNvSpPr txBox="1"/>
          <p:nvPr/>
        </p:nvSpPr>
        <p:spPr>
          <a:xfrm>
            <a:off x="822960" y="2926080"/>
            <a:ext cx="4572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onsolas"/>
                <a:ea typeface="Consolas"/>
                <a:cs typeface="Consolas"/>
                <a:sym typeface="Consolas"/>
              </a:rPr>
              <a:t>→  S3: chat_logs/ prefix</a:t>
            </a:r>
            <a:endParaRPr/>
          </a:p>
        </p:txBody>
      </p:sp>
      <p:sp>
        <p:nvSpPr>
          <p:cNvPr id="205" name="Google Shape;205;p6"/>
          <p:cNvSpPr txBox="1"/>
          <p:nvPr/>
        </p:nvSpPr>
        <p:spPr>
          <a:xfrm>
            <a:off x="822960" y="3246120"/>
            <a:ext cx="4572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onsolas"/>
                <a:ea typeface="Consolas"/>
                <a:cs typeface="Consolas"/>
                <a:sym typeface="Consolas"/>
              </a:rPr>
              <a:t>→  Glue table: chat_logs</a:t>
            </a:r>
            <a:endParaRPr/>
          </a:p>
        </p:txBody>
      </p:sp>
      <p:sp>
        <p:nvSpPr>
          <p:cNvPr id="206" name="Google Shape;206;p6"/>
          <p:cNvSpPr/>
          <p:nvPr/>
        </p:nvSpPr>
        <p:spPr>
          <a:xfrm>
            <a:off x="6309360" y="1371600"/>
            <a:ext cx="5303520" cy="3200400"/>
          </a:xfrm>
          <a:prstGeom prst="rect">
            <a:avLst/>
          </a:prstGeom>
          <a:solidFill>
            <a:srgbClr val="F7F8FA"/>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6"/>
          <p:cNvSpPr txBox="1"/>
          <p:nvPr/>
        </p:nvSpPr>
        <p:spPr>
          <a:xfrm>
            <a:off x="6583680" y="1508760"/>
            <a:ext cx="45720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600" u="none" cap="none" strike="noStrike">
                <a:solidFill>
                  <a:srgbClr val="065A82"/>
                </a:solidFill>
                <a:latin typeface="Calibri"/>
                <a:ea typeface="Calibri"/>
                <a:cs typeface="Calibri"/>
                <a:sym typeface="Calibri"/>
              </a:rPr>
              <a:t>Path 2: PII-Isolated Content</a:t>
            </a:r>
            <a:endParaRPr/>
          </a:p>
        </p:txBody>
      </p:sp>
      <p:sp>
        <p:nvSpPr>
          <p:cNvPr id="208" name="Google Shape;208;p6"/>
          <p:cNvSpPr txBox="1"/>
          <p:nvPr/>
        </p:nvSpPr>
        <p:spPr>
          <a:xfrm>
            <a:off x="6675120" y="1965960"/>
            <a:ext cx="4572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onsolas"/>
                <a:ea typeface="Consolas"/>
                <a:cs typeface="Consolas"/>
                <a:sym typeface="Consolas"/>
              </a:rPr>
              <a:t>CloudWatch chat_logs log group</a:t>
            </a:r>
            <a:endParaRPr/>
          </a:p>
        </p:txBody>
      </p:sp>
      <p:sp>
        <p:nvSpPr>
          <p:cNvPr id="209" name="Google Shape;209;p6"/>
          <p:cNvSpPr txBox="1"/>
          <p:nvPr/>
        </p:nvSpPr>
        <p:spPr>
          <a:xfrm>
            <a:off x="6675120" y="2286000"/>
            <a:ext cx="4572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onsolas"/>
                <a:ea typeface="Consolas"/>
                <a:cs typeface="Consolas"/>
                <a:sym typeface="Consolas"/>
              </a:rPr>
              <a:t>→  Data Protection redacts PII in-place</a:t>
            </a:r>
            <a:endParaRPr/>
          </a:p>
        </p:txBody>
      </p:sp>
      <p:sp>
        <p:nvSpPr>
          <p:cNvPr id="210" name="Google Shape;210;p6"/>
          <p:cNvSpPr txBox="1"/>
          <p:nvPr/>
        </p:nvSpPr>
        <p:spPr>
          <a:xfrm>
            <a:off x="6675120" y="2606040"/>
            <a:ext cx="4572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onsolas"/>
                <a:ea typeface="Consolas"/>
                <a:cs typeface="Consolas"/>
                <a:sym typeface="Consolas"/>
              </a:rPr>
              <a:t>→  Firehose: chat-conversations-firehose</a:t>
            </a:r>
            <a:endParaRPr/>
          </a:p>
        </p:txBody>
      </p:sp>
      <p:sp>
        <p:nvSpPr>
          <p:cNvPr id="211" name="Google Shape;211;p6"/>
          <p:cNvSpPr txBox="1"/>
          <p:nvPr/>
        </p:nvSpPr>
        <p:spPr>
          <a:xfrm>
            <a:off x="6675120" y="2926080"/>
            <a:ext cx="4572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onsolas"/>
                <a:ea typeface="Consolas"/>
                <a:cs typeface="Consolas"/>
                <a:sym typeface="Consolas"/>
              </a:rPr>
              <a:t>→  S3: chat_conversations/ prefix</a:t>
            </a:r>
            <a:endParaRPr/>
          </a:p>
        </p:txBody>
      </p:sp>
      <p:sp>
        <p:nvSpPr>
          <p:cNvPr id="212" name="Google Shape;212;p6"/>
          <p:cNvSpPr txBox="1"/>
          <p:nvPr/>
        </p:nvSpPr>
        <p:spPr>
          <a:xfrm>
            <a:off x="6675120" y="3246120"/>
            <a:ext cx="45720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onsolas"/>
                <a:ea typeface="Consolas"/>
                <a:cs typeface="Consolas"/>
                <a:sym typeface="Consolas"/>
              </a:rPr>
              <a:t>→  Glue table: chat_conversations</a:t>
            </a:r>
            <a:endParaRPr/>
          </a:p>
        </p:txBody>
      </p:sp>
      <p:sp>
        <p:nvSpPr>
          <p:cNvPr id="213" name="Google Shape;213;p6"/>
          <p:cNvSpPr txBox="1"/>
          <p:nvPr/>
        </p:nvSpPr>
        <p:spPr>
          <a:xfrm>
            <a:off x="731520" y="4846320"/>
            <a:ext cx="27432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0F1B2D"/>
                </a:solidFill>
                <a:latin typeface="Calibri"/>
                <a:ea typeface="Calibri"/>
                <a:cs typeface="Calibri"/>
                <a:sym typeface="Calibri"/>
              </a:rPr>
              <a:t>Shared Join Keys</a:t>
            </a:r>
            <a:endParaRPr/>
          </a:p>
        </p:txBody>
      </p:sp>
      <p:sp>
        <p:nvSpPr>
          <p:cNvPr id="214" name="Google Shape;214;p6"/>
          <p:cNvSpPr txBox="1"/>
          <p:nvPr/>
        </p:nvSpPr>
        <p:spPr>
          <a:xfrm>
            <a:off x="731520" y="5212080"/>
            <a:ext cx="100584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065A82"/>
                </a:solidFill>
                <a:latin typeface="Consolas"/>
                <a:ea typeface="Consolas"/>
                <a:cs typeface="Consolas"/>
                <a:sym typeface="Consolas"/>
              </a:rPr>
              <a:t>system_message_id  /  conversation_id  /  user_message_id  /  accountid  /  user_arn  /  partition columns</a:t>
            </a:r>
            <a:endParaRPr/>
          </a:p>
        </p:txBody>
      </p:sp>
      <p:sp>
        <p:nvSpPr>
          <p:cNvPr id="215" name="Google Shape;215;p6"/>
          <p:cNvSpPr txBox="1"/>
          <p:nvPr/>
        </p:nvSpPr>
        <p:spPr>
          <a:xfrm>
            <a:off x="731520" y="5760720"/>
            <a:ext cx="1005840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Analysts query chat_logs for day-to-day metrics. JOIN to chat_conversations when conversation content is needed.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 name="Shape 220"/>
        <p:cNvGrpSpPr/>
        <p:nvPr/>
      </p:nvGrpSpPr>
      <p:grpSpPr>
        <a:xfrm>
          <a:off x="0" y="0"/>
          <a:ext cx="0" cy="0"/>
          <a:chOff x="0" y="0"/>
          <a:chExt cx="0" cy="0"/>
        </a:xfrm>
      </p:grpSpPr>
      <p:sp>
        <p:nvSpPr>
          <p:cNvPr id="221" name="Google Shape;221;p7"/>
          <p:cNvSpPr txBox="1"/>
          <p:nvPr/>
        </p:nvSpPr>
        <p:spPr>
          <a:xfrm>
            <a:off x="731520" y="365760"/>
            <a:ext cx="914400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3200" u="none" cap="none" strike="noStrike">
                <a:solidFill>
                  <a:srgbClr val="0F1B2D"/>
                </a:solidFill>
                <a:latin typeface="Calibri"/>
                <a:ea typeface="Calibri"/>
                <a:cs typeface="Calibri"/>
                <a:sym typeface="Calibri"/>
              </a:rPr>
              <a:t>CloudWatch Data Protection</a:t>
            </a:r>
            <a:endParaRPr/>
          </a:p>
        </p:txBody>
      </p:sp>
      <p:sp>
        <p:nvSpPr>
          <p:cNvPr id="222" name="Google Shape;222;p7"/>
          <p:cNvSpPr/>
          <p:nvPr/>
        </p:nvSpPr>
        <p:spPr>
          <a:xfrm>
            <a:off x="731520" y="960120"/>
            <a:ext cx="1828800" cy="36576"/>
          </a:xfrm>
          <a:prstGeom prst="rect">
            <a:avLst/>
          </a:prstGeom>
          <a:solidFill>
            <a:srgbClr val="FF99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7"/>
          <p:cNvSpPr txBox="1"/>
          <p:nvPr/>
        </p:nvSpPr>
        <p:spPr>
          <a:xfrm>
            <a:off x="731520" y="1371600"/>
            <a:ext cx="457200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F1B2D"/>
                </a:solidFill>
                <a:latin typeface="Calibri"/>
                <a:ea typeface="Calibri"/>
                <a:cs typeface="Calibri"/>
                <a:sym typeface="Calibri"/>
              </a:rPr>
              <a:t>What Gets Redacted</a:t>
            </a:r>
            <a:endParaRPr/>
          </a:p>
        </p:txBody>
      </p:sp>
      <p:sp>
        <p:nvSpPr>
          <p:cNvPr id="224" name="Google Shape;224;p7"/>
          <p:cNvSpPr/>
          <p:nvPr/>
        </p:nvSpPr>
        <p:spPr>
          <a:xfrm>
            <a:off x="731520" y="1828800"/>
            <a:ext cx="5029200" cy="475488"/>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7"/>
          <p:cNvSpPr txBox="1"/>
          <p:nvPr/>
        </p:nvSpPr>
        <p:spPr>
          <a:xfrm>
            <a:off x="914400" y="1901952"/>
            <a:ext cx="21031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0F1B2D"/>
                </a:solidFill>
                <a:latin typeface="Calibri"/>
                <a:ea typeface="Calibri"/>
                <a:cs typeface="Calibri"/>
                <a:sym typeface="Calibri"/>
              </a:rPr>
              <a:t>Social Security Numbers</a:t>
            </a:r>
            <a:endParaRPr/>
          </a:p>
        </p:txBody>
      </p:sp>
      <p:sp>
        <p:nvSpPr>
          <p:cNvPr id="226" name="Google Shape;226;p7"/>
          <p:cNvSpPr txBox="1"/>
          <p:nvPr/>
        </p:nvSpPr>
        <p:spPr>
          <a:xfrm>
            <a:off x="3017520" y="1901952"/>
            <a:ext cx="25603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6B7280"/>
                </a:solidFill>
                <a:latin typeface="Consolas"/>
                <a:ea typeface="Consolas"/>
                <a:cs typeface="Consolas"/>
                <a:sym typeface="Consolas"/>
              </a:rPr>
              <a:t>123-45-6789 → ***-**-****</a:t>
            </a:r>
            <a:endParaRPr/>
          </a:p>
        </p:txBody>
      </p:sp>
      <p:sp>
        <p:nvSpPr>
          <p:cNvPr id="227" name="Google Shape;227;p7"/>
          <p:cNvSpPr/>
          <p:nvPr/>
        </p:nvSpPr>
        <p:spPr>
          <a:xfrm>
            <a:off x="731520" y="2377440"/>
            <a:ext cx="5029200" cy="475488"/>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7"/>
          <p:cNvSpPr txBox="1"/>
          <p:nvPr/>
        </p:nvSpPr>
        <p:spPr>
          <a:xfrm>
            <a:off x="914400" y="2450592"/>
            <a:ext cx="21031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0F1B2D"/>
                </a:solidFill>
                <a:latin typeface="Calibri"/>
                <a:ea typeface="Calibri"/>
                <a:cs typeface="Calibri"/>
                <a:sym typeface="Calibri"/>
              </a:rPr>
              <a:t>Credit Card Numbers</a:t>
            </a:r>
            <a:endParaRPr/>
          </a:p>
        </p:txBody>
      </p:sp>
      <p:sp>
        <p:nvSpPr>
          <p:cNvPr id="229" name="Google Shape;229;p7"/>
          <p:cNvSpPr txBox="1"/>
          <p:nvPr/>
        </p:nvSpPr>
        <p:spPr>
          <a:xfrm>
            <a:off x="3017520" y="2450592"/>
            <a:ext cx="25603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6B7280"/>
                </a:solidFill>
                <a:latin typeface="Consolas"/>
                <a:ea typeface="Consolas"/>
                <a:cs typeface="Consolas"/>
                <a:sym typeface="Consolas"/>
              </a:rPr>
              <a:t>4111-1111-... → ****-****-...</a:t>
            </a:r>
            <a:endParaRPr/>
          </a:p>
        </p:txBody>
      </p:sp>
      <p:sp>
        <p:nvSpPr>
          <p:cNvPr id="230" name="Google Shape;230;p7"/>
          <p:cNvSpPr/>
          <p:nvPr/>
        </p:nvSpPr>
        <p:spPr>
          <a:xfrm>
            <a:off x="731520" y="2926080"/>
            <a:ext cx="5029200" cy="475488"/>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7"/>
          <p:cNvSpPr txBox="1"/>
          <p:nvPr/>
        </p:nvSpPr>
        <p:spPr>
          <a:xfrm>
            <a:off x="914400" y="2999232"/>
            <a:ext cx="21031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0F1B2D"/>
                </a:solidFill>
                <a:latin typeface="Calibri"/>
                <a:ea typeface="Calibri"/>
                <a:cs typeface="Calibri"/>
                <a:sym typeface="Calibri"/>
              </a:rPr>
              <a:t>Email Addresses</a:t>
            </a:r>
            <a:endParaRPr/>
          </a:p>
        </p:txBody>
      </p:sp>
      <p:sp>
        <p:nvSpPr>
          <p:cNvPr id="232" name="Google Shape;232;p7"/>
          <p:cNvSpPr txBox="1"/>
          <p:nvPr/>
        </p:nvSpPr>
        <p:spPr>
          <a:xfrm>
            <a:off x="3017520" y="2999232"/>
            <a:ext cx="25603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6B7280"/>
                </a:solidFill>
                <a:latin typeface="Consolas"/>
                <a:ea typeface="Consolas"/>
                <a:cs typeface="Consolas"/>
                <a:sym typeface="Consolas"/>
              </a:rPr>
              <a:t>user@co.com → ****@****.***</a:t>
            </a:r>
            <a:endParaRPr/>
          </a:p>
        </p:txBody>
      </p:sp>
      <p:sp>
        <p:nvSpPr>
          <p:cNvPr id="233" name="Google Shape;233;p7"/>
          <p:cNvSpPr/>
          <p:nvPr/>
        </p:nvSpPr>
        <p:spPr>
          <a:xfrm>
            <a:off x="731520" y="3474720"/>
            <a:ext cx="5029200" cy="475488"/>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7"/>
          <p:cNvSpPr txBox="1"/>
          <p:nvPr/>
        </p:nvSpPr>
        <p:spPr>
          <a:xfrm>
            <a:off x="914400" y="3547872"/>
            <a:ext cx="21031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0F1B2D"/>
                </a:solidFill>
                <a:latin typeface="Calibri"/>
                <a:ea typeface="Calibri"/>
                <a:cs typeface="Calibri"/>
                <a:sym typeface="Calibri"/>
              </a:rPr>
              <a:t>Dates of Birth</a:t>
            </a:r>
            <a:endParaRPr/>
          </a:p>
        </p:txBody>
      </p:sp>
      <p:sp>
        <p:nvSpPr>
          <p:cNvPr id="235" name="Google Shape;235;p7"/>
          <p:cNvSpPr txBox="1"/>
          <p:nvPr/>
        </p:nvSpPr>
        <p:spPr>
          <a:xfrm>
            <a:off x="3017520" y="3547872"/>
            <a:ext cx="25603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6B7280"/>
                </a:solidFill>
                <a:latin typeface="Consolas"/>
                <a:ea typeface="Consolas"/>
                <a:cs typeface="Consolas"/>
                <a:sym typeface="Consolas"/>
              </a:rPr>
              <a:t>Identified and masked</a:t>
            </a:r>
            <a:endParaRPr/>
          </a:p>
        </p:txBody>
      </p:sp>
      <p:sp>
        <p:nvSpPr>
          <p:cNvPr id="236" name="Google Shape;236;p7"/>
          <p:cNvSpPr/>
          <p:nvPr/>
        </p:nvSpPr>
        <p:spPr>
          <a:xfrm>
            <a:off x="731520" y="4023360"/>
            <a:ext cx="5029200" cy="475488"/>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7"/>
          <p:cNvSpPr txBox="1"/>
          <p:nvPr/>
        </p:nvSpPr>
        <p:spPr>
          <a:xfrm>
            <a:off x="914400" y="4096512"/>
            <a:ext cx="21031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0F1B2D"/>
                </a:solidFill>
                <a:latin typeface="Calibri"/>
                <a:ea typeface="Calibri"/>
                <a:cs typeface="Calibri"/>
                <a:sym typeface="Calibri"/>
              </a:rPr>
              <a:t>Names (detected)</a:t>
            </a:r>
            <a:endParaRPr/>
          </a:p>
        </p:txBody>
      </p:sp>
      <p:sp>
        <p:nvSpPr>
          <p:cNvPr id="238" name="Google Shape;238;p7"/>
          <p:cNvSpPr txBox="1"/>
          <p:nvPr/>
        </p:nvSpPr>
        <p:spPr>
          <a:xfrm>
            <a:off x="3017520" y="4096512"/>
            <a:ext cx="25603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6B7280"/>
                </a:solidFill>
                <a:latin typeface="Consolas"/>
                <a:ea typeface="Consolas"/>
                <a:cs typeface="Consolas"/>
                <a:sym typeface="Consolas"/>
              </a:rPr>
              <a:t>Pattern-matched and redacted</a:t>
            </a:r>
            <a:endParaRPr/>
          </a:p>
        </p:txBody>
      </p:sp>
      <p:sp>
        <p:nvSpPr>
          <p:cNvPr id="239" name="Google Shape;239;p7"/>
          <p:cNvSpPr txBox="1"/>
          <p:nvPr/>
        </p:nvSpPr>
        <p:spPr>
          <a:xfrm>
            <a:off x="6400800" y="1371600"/>
            <a:ext cx="457200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rgbClr val="0F1B2D"/>
                </a:solidFill>
                <a:latin typeface="Calibri"/>
                <a:ea typeface="Calibri"/>
                <a:cs typeface="Calibri"/>
                <a:sym typeface="Calibri"/>
              </a:rPr>
              <a:t>How It Works</a:t>
            </a:r>
            <a:endParaRPr/>
          </a:p>
        </p:txBody>
      </p:sp>
      <p:sp>
        <p:nvSpPr>
          <p:cNvPr id="240" name="Google Shape;240;p7"/>
          <p:cNvSpPr txBox="1"/>
          <p:nvPr/>
        </p:nvSpPr>
        <p:spPr>
          <a:xfrm>
            <a:off x="6400800" y="1828800"/>
            <a:ext cx="2286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FF9900"/>
                </a:solidFill>
                <a:latin typeface="Calibri"/>
                <a:ea typeface="Calibri"/>
                <a:cs typeface="Calibri"/>
                <a:sym typeface="Calibri"/>
              </a:rPr>
              <a:t>—</a:t>
            </a:r>
            <a:endParaRPr/>
          </a:p>
        </p:txBody>
      </p:sp>
      <p:sp>
        <p:nvSpPr>
          <p:cNvPr id="241" name="Google Shape;241;p7"/>
          <p:cNvSpPr txBox="1"/>
          <p:nvPr/>
        </p:nvSpPr>
        <p:spPr>
          <a:xfrm>
            <a:off x="6720840" y="1828800"/>
            <a:ext cx="50292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alibri"/>
                <a:ea typeface="Calibri"/>
                <a:cs typeface="Calibri"/>
                <a:sym typeface="Calibri"/>
              </a:rPr>
              <a:t>Applied at CloudWatch log group level</a:t>
            </a:r>
            <a:endParaRPr/>
          </a:p>
        </p:txBody>
      </p:sp>
      <p:sp>
        <p:nvSpPr>
          <p:cNvPr id="242" name="Google Shape;242;p7"/>
          <p:cNvSpPr txBox="1"/>
          <p:nvPr/>
        </p:nvSpPr>
        <p:spPr>
          <a:xfrm>
            <a:off x="6400800" y="2304288"/>
            <a:ext cx="2286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FF9900"/>
                </a:solidFill>
                <a:latin typeface="Calibri"/>
                <a:ea typeface="Calibri"/>
                <a:cs typeface="Calibri"/>
                <a:sym typeface="Calibri"/>
              </a:rPr>
              <a:t>—</a:t>
            </a:r>
            <a:endParaRPr/>
          </a:p>
        </p:txBody>
      </p:sp>
      <p:sp>
        <p:nvSpPr>
          <p:cNvPr id="243" name="Google Shape;243;p7"/>
          <p:cNvSpPr txBox="1"/>
          <p:nvPr/>
        </p:nvSpPr>
        <p:spPr>
          <a:xfrm>
            <a:off x="6720840" y="2304288"/>
            <a:ext cx="50292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alibri"/>
                <a:ea typeface="Calibri"/>
                <a:cs typeface="Calibri"/>
                <a:sym typeface="Calibri"/>
              </a:rPr>
              <a:t>Redaction happens before delivery to any subscriber</a:t>
            </a:r>
            <a:endParaRPr/>
          </a:p>
        </p:txBody>
      </p:sp>
      <p:sp>
        <p:nvSpPr>
          <p:cNvPr id="244" name="Google Shape;244;p7"/>
          <p:cNvSpPr txBox="1"/>
          <p:nvPr/>
        </p:nvSpPr>
        <p:spPr>
          <a:xfrm>
            <a:off x="6400800" y="2779776"/>
            <a:ext cx="2286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FF9900"/>
                </a:solidFill>
                <a:latin typeface="Calibri"/>
                <a:ea typeface="Calibri"/>
                <a:cs typeface="Calibri"/>
                <a:sym typeface="Calibri"/>
              </a:rPr>
              <a:t>—</a:t>
            </a:r>
            <a:endParaRPr/>
          </a:p>
        </p:txBody>
      </p:sp>
      <p:sp>
        <p:nvSpPr>
          <p:cNvPr id="245" name="Google Shape;245;p7"/>
          <p:cNvSpPr txBox="1"/>
          <p:nvPr/>
        </p:nvSpPr>
        <p:spPr>
          <a:xfrm>
            <a:off x="6720840" y="2779776"/>
            <a:ext cx="50292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alibri"/>
                <a:ea typeface="Calibri"/>
                <a:cs typeface="Calibri"/>
                <a:sym typeface="Calibri"/>
              </a:rPr>
              <a:t>Uses AWS managed data identifiers</a:t>
            </a:r>
            <a:endParaRPr/>
          </a:p>
        </p:txBody>
      </p:sp>
      <p:sp>
        <p:nvSpPr>
          <p:cNvPr id="246" name="Google Shape;246;p7"/>
          <p:cNvSpPr txBox="1"/>
          <p:nvPr/>
        </p:nvSpPr>
        <p:spPr>
          <a:xfrm>
            <a:off x="6400800" y="3255264"/>
            <a:ext cx="2286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FF9900"/>
                </a:solidFill>
                <a:latin typeface="Calibri"/>
                <a:ea typeface="Calibri"/>
                <a:cs typeface="Calibri"/>
                <a:sym typeface="Calibri"/>
              </a:rPr>
              <a:t>—</a:t>
            </a:r>
            <a:endParaRPr/>
          </a:p>
        </p:txBody>
      </p:sp>
      <p:sp>
        <p:nvSpPr>
          <p:cNvPr id="247" name="Google Shape;247;p7"/>
          <p:cNvSpPr txBox="1"/>
          <p:nvPr/>
        </p:nvSpPr>
        <p:spPr>
          <a:xfrm>
            <a:off x="6720840" y="3255264"/>
            <a:ext cx="50292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alibri"/>
                <a:ea typeface="Calibri"/>
                <a:cs typeface="Calibri"/>
                <a:sym typeface="Calibri"/>
              </a:rPr>
              <a:t>Zero application code changes required</a:t>
            </a:r>
            <a:endParaRPr/>
          </a:p>
        </p:txBody>
      </p:sp>
      <p:sp>
        <p:nvSpPr>
          <p:cNvPr id="248" name="Google Shape;248;p7"/>
          <p:cNvSpPr txBox="1"/>
          <p:nvPr/>
        </p:nvSpPr>
        <p:spPr>
          <a:xfrm>
            <a:off x="6400800" y="3730752"/>
            <a:ext cx="2286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FF9900"/>
                </a:solidFill>
                <a:latin typeface="Calibri"/>
                <a:ea typeface="Calibri"/>
                <a:cs typeface="Calibri"/>
                <a:sym typeface="Calibri"/>
              </a:rPr>
              <a:t>—</a:t>
            </a:r>
            <a:endParaRPr/>
          </a:p>
        </p:txBody>
      </p:sp>
      <p:sp>
        <p:nvSpPr>
          <p:cNvPr id="249" name="Google Shape;249;p7"/>
          <p:cNvSpPr txBox="1"/>
          <p:nvPr/>
        </p:nvSpPr>
        <p:spPr>
          <a:xfrm>
            <a:off x="6720840" y="3730752"/>
            <a:ext cx="50292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alibri"/>
                <a:ea typeface="Calibri"/>
                <a:cs typeface="Calibri"/>
                <a:sym typeface="Calibri"/>
              </a:rPr>
              <a:t>Configured via Terraform data protection policy</a:t>
            </a:r>
            <a:endParaRPr/>
          </a:p>
        </p:txBody>
      </p:sp>
      <p:sp>
        <p:nvSpPr>
          <p:cNvPr id="250" name="Google Shape;250;p7"/>
          <p:cNvSpPr txBox="1"/>
          <p:nvPr/>
        </p:nvSpPr>
        <p:spPr>
          <a:xfrm>
            <a:off x="6400800" y="4206240"/>
            <a:ext cx="2286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FF9900"/>
                </a:solidFill>
                <a:latin typeface="Calibri"/>
                <a:ea typeface="Calibri"/>
                <a:cs typeface="Calibri"/>
                <a:sym typeface="Calibri"/>
              </a:rPr>
              <a:t>—</a:t>
            </a:r>
            <a:endParaRPr/>
          </a:p>
        </p:txBody>
      </p:sp>
      <p:sp>
        <p:nvSpPr>
          <p:cNvPr id="251" name="Google Shape;251;p7"/>
          <p:cNvSpPr txBox="1"/>
          <p:nvPr/>
        </p:nvSpPr>
        <p:spPr>
          <a:xfrm>
            <a:off x="6720840" y="4206240"/>
            <a:ext cx="5029200" cy="4114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1E2761"/>
                </a:solidFill>
                <a:latin typeface="Calibri"/>
                <a:ea typeface="Calibri"/>
                <a:cs typeface="Calibri"/>
                <a:sym typeface="Calibri"/>
              </a:rPr>
              <a:t>Covers chat_logs only (feedback and agent hours have no PII fields)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8"/>
          <p:cNvSpPr txBox="1"/>
          <p:nvPr/>
        </p:nvSpPr>
        <p:spPr>
          <a:xfrm>
            <a:off x="731520" y="365760"/>
            <a:ext cx="914400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3200" u="none" cap="none" strike="noStrike">
                <a:solidFill>
                  <a:srgbClr val="0F1B2D"/>
                </a:solidFill>
                <a:latin typeface="Calibri"/>
                <a:ea typeface="Calibri"/>
                <a:cs typeface="Calibri"/>
                <a:sym typeface="Calibri"/>
              </a:rPr>
              <a:t>Key Infrastructure Features</a:t>
            </a:r>
            <a:endParaRPr/>
          </a:p>
        </p:txBody>
      </p:sp>
      <p:sp>
        <p:nvSpPr>
          <p:cNvPr id="258" name="Google Shape;258;p8"/>
          <p:cNvSpPr/>
          <p:nvPr/>
        </p:nvSpPr>
        <p:spPr>
          <a:xfrm>
            <a:off x="731520" y="960120"/>
            <a:ext cx="1828800" cy="36576"/>
          </a:xfrm>
          <a:prstGeom prst="rect">
            <a:avLst/>
          </a:prstGeom>
          <a:solidFill>
            <a:srgbClr val="FF99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8"/>
          <p:cNvSpPr/>
          <p:nvPr/>
        </p:nvSpPr>
        <p:spPr>
          <a:xfrm>
            <a:off x="457200" y="1325880"/>
            <a:ext cx="3520440" cy="2286000"/>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8"/>
          <p:cNvSpPr/>
          <p:nvPr/>
        </p:nvSpPr>
        <p:spPr>
          <a:xfrm>
            <a:off x="457200" y="1325880"/>
            <a:ext cx="54864" cy="2286000"/>
          </a:xfrm>
          <a:prstGeom prst="rect">
            <a:avLst/>
          </a:prstGeom>
          <a:solidFill>
            <a:srgbClr val="0F1B2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8"/>
          <p:cNvSpPr txBox="1"/>
          <p:nvPr/>
        </p:nvSpPr>
        <p:spPr>
          <a:xfrm>
            <a:off x="685800" y="1508760"/>
            <a:ext cx="310896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0F1B2D"/>
                </a:solidFill>
                <a:latin typeface="Calibri"/>
                <a:ea typeface="Calibri"/>
                <a:cs typeface="Calibri"/>
                <a:sym typeface="Calibri"/>
              </a:rPr>
              <a:t>Parquet Format</a:t>
            </a:r>
            <a:endParaRPr/>
          </a:p>
        </p:txBody>
      </p:sp>
      <p:sp>
        <p:nvSpPr>
          <p:cNvPr id="262" name="Google Shape;262;p8"/>
          <p:cNvSpPr txBox="1"/>
          <p:nvPr/>
        </p:nvSpPr>
        <p:spPr>
          <a:xfrm>
            <a:off x="685800" y="1920240"/>
            <a:ext cx="310896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Columnar storage via Firehose format</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conversion using Glue schemas.</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70-90% smaller than JSON.</a:t>
            </a:r>
            <a:endParaRPr/>
          </a:p>
        </p:txBody>
      </p:sp>
      <p:sp>
        <p:nvSpPr>
          <p:cNvPr id="263" name="Google Shape;263;p8"/>
          <p:cNvSpPr/>
          <p:nvPr/>
        </p:nvSpPr>
        <p:spPr>
          <a:xfrm>
            <a:off x="4251960" y="1325880"/>
            <a:ext cx="3520440" cy="2286000"/>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4" name="Google Shape;264;p8"/>
          <p:cNvSpPr/>
          <p:nvPr/>
        </p:nvSpPr>
        <p:spPr>
          <a:xfrm>
            <a:off x="4251960" y="1325880"/>
            <a:ext cx="54864" cy="2286000"/>
          </a:xfrm>
          <a:prstGeom prst="rect">
            <a:avLst/>
          </a:prstGeom>
          <a:solidFill>
            <a:srgbClr val="065A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8"/>
          <p:cNvSpPr txBox="1"/>
          <p:nvPr/>
        </p:nvSpPr>
        <p:spPr>
          <a:xfrm>
            <a:off x="4480560" y="1508760"/>
            <a:ext cx="310896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065A82"/>
                </a:solidFill>
                <a:latin typeface="Calibri"/>
                <a:ea typeface="Calibri"/>
                <a:cs typeface="Calibri"/>
                <a:sym typeface="Calibri"/>
              </a:rPr>
              <a:t>Hive Partitioning</a:t>
            </a:r>
            <a:endParaRPr/>
          </a:p>
        </p:txBody>
      </p:sp>
      <p:sp>
        <p:nvSpPr>
          <p:cNvPr id="266" name="Google Shape;266;p8"/>
          <p:cNvSpPr txBox="1"/>
          <p:nvPr/>
        </p:nvSpPr>
        <p:spPr>
          <a:xfrm>
            <a:off x="4480560" y="1920240"/>
            <a:ext cx="310896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year=/month=/day=/hour= structure.</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Athena scans only relevant partitions.</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Significant cost and speed improvement.</a:t>
            </a:r>
            <a:endParaRPr/>
          </a:p>
        </p:txBody>
      </p:sp>
      <p:sp>
        <p:nvSpPr>
          <p:cNvPr id="267" name="Google Shape;267;p8"/>
          <p:cNvSpPr/>
          <p:nvPr/>
        </p:nvSpPr>
        <p:spPr>
          <a:xfrm>
            <a:off x="8046720" y="1325880"/>
            <a:ext cx="3520440" cy="2286000"/>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p8"/>
          <p:cNvSpPr/>
          <p:nvPr/>
        </p:nvSpPr>
        <p:spPr>
          <a:xfrm>
            <a:off x="8046720" y="1325880"/>
            <a:ext cx="54864" cy="2286000"/>
          </a:xfrm>
          <a:prstGeom prst="rect">
            <a:avLst/>
          </a:prstGeom>
          <a:solidFill>
            <a:srgbClr val="00A89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8"/>
          <p:cNvSpPr txBox="1"/>
          <p:nvPr/>
        </p:nvSpPr>
        <p:spPr>
          <a:xfrm>
            <a:off x="8275320" y="1508760"/>
            <a:ext cx="310896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00A896"/>
                </a:solidFill>
                <a:latin typeface="Calibri"/>
                <a:ea typeface="Calibri"/>
                <a:cs typeface="Calibri"/>
                <a:sym typeface="Calibri"/>
              </a:rPr>
              <a:t>AWS KMS Encryption</a:t>
            </a:r>
            <a:endParaRPr/>
          </a:p>
        </p:txBody>
      </p:sp>
      <p:sp>
        <p:nvSpPr>
          <p:cNvPr id="270" name="Google Shape;270;p8"/>
          <p:cNvSpPr txBox="1"/>
          <p:nvPr/>
        </p:nvSpPr>
        <p:spPr>
          <a:xfrm>
            <a:off x="8275320" y="1920240"/>
            <a:ext cx="310896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Managed encryption service for</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cryptographic key management.</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Covers S3, CloudWatch, Firehose,</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and Athena query results.</a:t>
            </a:r>
            <a:endParaRPr/>
          </a:p>
        </p:txBody>
      </p:sp>
      <p:sp>
        <p:nvSpPr>
          <p:cNvPr id="271" name="Google Shape;271;p8"/>
          <p:cNvSpPr/>
          <p:nvPr/>
        </p:nvSpPr>
        <p:spPr>
          <a:xfrm>
            <a:off x="457200" y="3931920"/>
            <a:ext cx="3520440" cy="2286000"/>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8"/>
          <p:cNvSpPr/>
          <p:nvPr/>
        </p:nvSpPr>
        <p:spPr>
          <a:xfrm>
            <a:off x="457200" y="3931920"/>
            <a:ext cx="54864" cy="2286000"/>
          </a:xfrm>
          <a:prstGeom prst="rect">
            <a:avLst/>
          </a:prstGeom>
          <a:solidFill>
            <a:srgbClr val="FF99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8"/>
          <p:cNvSpPr txBox="1"/>
          <p:nvPr/>
        </p:nvSpPr>
        <p:spPr>
          <a:xfrm>
            <a:off x="685800" y="4114800"/>
            <a:ext cx="310896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FF9900"/>
                </a:solidFill>
                <a:latin typeface="Calibri"/>
                <a:ea typeface="Calibri"/>
                <a:cs typeface="Calibri"/>
                <a:sym typeface="Calibri"/>
              </a:rPr>
              <a:t>Auto Partition Registration</a:t>
            </a:r>
            <a:endParaRPr/>
          </a:p>
        </p:txBody>
      </p:sp>
      <p:sp>
        <p:nvSpPr>
          <p:cNvPr id="274" name="Google Shape;274;p8"/>
          <p:cNvSpPr txBox="1"/>
          <p:nvPr/>
        </p:nvSpPr>
        <p:spPr>
          <a:xfrm>
            <a:off x="685800" y="4526280"/>
            <a:ext cx="310896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S3 PutObject events trigger Lambda.</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Calls glue:BatchCreatePartition</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for all 4 tables automatically.</a:t>
            </a:r>
            <a:endParaRPr/>
          </a:p>
        </p:txBody>
      </p:sp>
      <p:sp>
        <p:nvSpPr>
          <p:cNvPr id="275" name="Google Shape;275;p8"/>
          <p:cNvSpPr/>
          <p:nvPr/>
        </p:nvSpPr>
        <p:spPr>
          <a:xfrm>
            <a:off x="4251960" y="3931920"/>
            <a:ext cx="3520440" cy="2286000"/>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8"/>
          <p:cNvSpPr/>
          <p:nvPr/>
        </p:nvSpPr>
        <p:spPr>
          <a:xfrm>
            <a:off x="4251960" y="3931920"/>
            <a:ext cx="54864" cy="2286000"/>
          </a:xfrm>
          <a:prstGeom prst="rect">
            <a:avLst/>
          </a:prstGeom>
          <a:solidFill>
            <a:srgbClr val="B8504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8"/>
          <p:cNvSpPr txBox="1"/>
          <p:nvPr/>
        </p:nvSpPr>
        <p:spPr>
          <a:xfrm>
            <a:off x="4480560" y="4114800"/>
            <a:ext cx="310896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B85042"/>
                </a:solidFill>
                <a:latin typeface="Calibri"/>
                <a:ea typeface="Calibri"/>
                <a:cs typeface="Calibri"/>
                <a:sym typeface="Calibri"/>
              </a:rPr>
              <a:t>Lifecycle Management</a:t>
            </a:r>
            <a:endParaRPr/>
          </a:p>
        </p:txBody>
      </p:sp>
      <p:sp>
        <p:nvSpPr>
          <p:cNvPr id="278" name="Google Shape;278;p8"/>
          <p:cNvSpPr txBox="1"/>
          <p:nvPr/>
        </p:nvSpPr>
        <p:spPr>
          <a:xfrm>
            <a:off x="4480560" y="4526280"/>
            <a:ext cx="310896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Glacier transition after 90 days.</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Deletion after 7 years.</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Dead-letter bucket for failed records.</a:t>
            </a:r>
            <a:endParaRPr/>
          </a:p>
        </p:txBody>
      </p:sp>
      <p:sp>
        <p:nvSpPr>
          <p:cNvPr id="279" name="Google Shape;279;p8"/>
          <p:cNvSpPr/>
          <p:nvPr/>
        </p:nvSpPr>
        <p:spPr>
          <a:xfrm>
            <a:off x="8046720" y="3931920"/>
            <a:ext cx="3520440" cy="2286000"/>
          </a:xfrm>
          <a:prstGeom prst="rect">
            <a:avLst/>
          </a:prstGeom>
          <a:solidFill>
            <a:srgbClr val="FFFFFF"/>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8"/>
          <p:cNvSpPr/>
          <p:nvPr/>
        </p:nvSpPr>
        <p:spPr>
          <a:xfrm>
            <a:off x="8046720" y="3931920"/>
            <a:ext cx="54864" cy="2286000"/>
          </a:xfrm>
          <a:prstGeom prst="rect">
            <a:avLst/>
          </a:prstGeom>
          <a:solidFill>
            <a:srgbClr val="1A3A5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8"/>
          <p:cNvSpPr txBox="1"/>
          <p:nvPr/>
        </p:nvSpPr>
        <p:spPr>
          <a:xfrm>
            <a:off x="8275320" y="4114800"/>
            <a:ext cx="310896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u="none" cap="none" strike="noStrike">
                <a:solidFill>
                  <a:srgbClr val="1A3A5C"/>
                </a:solidFill>
                <a:latin typeface="Calibri"/>
                <a:ea typeface="Calibri"/>
                <a:cs typeface="Calibri"/>
                <a:sym typeface="Calibri"/>
              </a:rPr>
              <a:t>Timestamp Enrichment</a:t>
            </a:r>
            <a:endParaRPr/>
          </a:p>
        </p:txBody>
      </p:sp>
      <p:sp>
        <p:nvSpPr>
          <p:cNvPr id="282" name="Google Shape;282;p8"/>
          <p:cNvSpPr txBox="1"/>
          <p:nvPr/>
        </p:nvSpPr>
        <p:spPr>
          <a:xfrm>
            <a:off x="8275320" y="4526280"/>
            <a:ext cx="3108960" cy="1463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Lambda adds timestamp_utc and</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event_timestamp_utc. Plus array</a:t>
            </a:r>
            <a:br>
              <a:rPr b="0" i="0" lang="en-US" sz="1200" u="none" cap="none" strike="noStrike">
                <a:solidFill>
                  <a:srgbClr val="6B7280"/>
                </a:solidFill>
                <a:latin typeface="Calibri"/>
                <a:ea typeface="Calibri"/>
                <a:cs typeface="Calibri"/>
                <a:sym typeface="Calibri"/>
              </a:rPr>
            </a:br>
            <a:r>
              <a:rPr b="0" i="0" lang="en-US" sz="1200" u="none" cap="none" strike="noStrike">
                <a:solidFill>
                  <a:srgbClr val="6B7280"/>
                </a:solidFill>
                <a:latin typeface="Calibri"/>
                <a:ea typeface="Calibri"/>
                <a:cs typeface="Calibri"/>
                <a:sym typeface="Calibri"/>
              </a:rPr>
              <a:t>count columns for QuickSight.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9"/>
          <p:cNvSpPr txBox="1"/>
          <p:nvPr/>
        </p:nvSpPr>
        <p:spPr>
          <a:xfrm>
            <a:off x="731520" y="365760"/>
            <a:ext cx="9144000" cy="6400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3200" u="none" cap="none" strike="noStrike">
                <a:solidFill>
                  <a:srgbClr val="0F1B2D"/>
                </a:solidFill>
                <a:latin typeface="Calibri"/>
                <a:ea typeface="Calibri"/>
                <a:cs typeface="Calibri"/>
                <a:sym typeface="Calibri"/>
              </a:rPr>
              <a:t>Querying with Athena</a:t>
            </a:r>
            <a:endParaRPr/>
          </a:p>
        </p:txBody>
      </p:sp>
      <p:sp>
        <p:nvSpPr>
          <p:cNvPr id="289" name="Google Shape;289;p9"/>
          <p:cNvSpPr txBox="1"/>
          <p:nvPr/>
        </p:nvSpPr>
        <p:spPr>
          <a:xfrm>
            <a:off x="731520" y="914400"/>
            <a:ext cx="91440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Always include partition filters (year, month, day) for fast, cost-effective queries</a:t>
            </a:r>
            <a:endParaRPr/>
          </a:p>
        </p:txBody>
      </p:sp>
      <p:sp>
        <p:nvSpPr>
          <p:cNvPr id="290" name="Google Shape;290;p9"/>
          <p:cNvSpPr txBox="1"/>
          <p:nvPr/>
        </p:nvSpPr>
        <p:spPr>
          <a:xfrm>
            <a:off x="548640" y="1463040"/>
            <a:ext cx="356616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0F1B2D"/>
                </a:solidFill>
                <a:latin typeface="Calibri"/>
                <a:ea typeface="Calibri"/>
                <a:cs typeface="Calibri"/>
                <a:sym typeface="Calibri"/>
              </a:rPr>
              <a:t>Latency by User Type</a:t>
            </a:r>
            <a:endParaRPr/>
          </a:p>
        </p:txBody>
      </p:sp>
      <p:sp>
        <p:nvSpPr>
          <p:cNvPr id="291" name="Google Shape;291;p9"/>
          <p:cNvSpPr/>
          <p:nvPr/>
        </p:nvSpPr>
        <p:spPr>
          <a:xfrm>
            <a:off x="457200" y="1828800"/>
            <a:ext cx="3566160" cy="3291840"/>
          </a:xfrm>
          <a:prstGeom prst="rect">
            <a:avLst/>
          </a:prstGeom>
          <a:solidFill>
            <a:srgbClr val="F7F8FA"/>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9"/>
          <p:cNvSpPr txBox="1"/>
          <p:nvPr/>
        </p:nvSpPr>
        <p:spPr>
          <a:xfrm>
            <a:off x="640080" y="1965960"/>
            <a:ext cx="3200400" cy="3017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1E2761"/>
                </a:solidFill>
                <a:latin typeface="Consolas"/>
                <a:ea typeface="Consolas"/>
                <a:cs typeface="Consolas"/>
                <a:sym typeface="Consolas"/>
              </a:rPr>
              <a:t>SELECT user_type,</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  AVG(latency) AS avg_latency_ms,</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  COUNT(*) AS count</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FROM quicksuite_logs.chat_logs</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WHERE year=2026 AND month=3</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GROUP BY user_type;</a:t>
            </a:r>
            <a:endParaRPr/>
          </a:p>
        </p:txBody>
      </p:sp>
      <p:sp>
        <p:nvSpPr>
          <p:cNvPr id="293" name="Google Shape;293;p9"/>
          <p:cNvSpPr txBox="1"/>
          <p:nvPr/>
        </p:nvSpPr>
        <p:spPr>
          <a:xfrm>
            <a:off x="4389120" y="1463040"/>
            <a:ext cx="356616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0F1B2D"/>
                </a:solidFill>
                <a:latin typeface="Calibri"/>
                <a:ea typeface="Calibri"/>
                <a:cs typeface="Calibri"/>
                <a:sym typeface="Calibri"/>
              </a:rPr>
              <a:t>Feedback Summary</a:t>
            </a:r>
            <a:endParaRPr/>
          </a:p>
        </p:txBody>
      </p:sp>
      <p:sp>
        <p:nvSpPr>
          <p:cNvPr id="294" name="Google Shape;294;p9"/>
          <p:cNvSpPr/>
          <p:nvPr/>
        </p:nvSpPr>
        <p:spPr>
          <a:xfrm>
            <a:off x="4297680" y="1828800"/>
            <a:ext cx="3566160" cy="3291840"/>
          </a:xfrm>
          <a:prstGeom prst="rect">
            <a:avLst/>
          </a:prstGeom>
          <a:solidFill>
            <a:srgbClr val="F7F8FA"/>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9"/>
          <p:cNvSpPr txBox="1"/>
          <p:nvPr/>
        </p:nvSpPr>
        <p:spPr>
          <a:xfrm>
            <a:off x="4480560" y="1965960"/>
            <a:ext cx="3200400" cy="3017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1E2761"/>
                </a:solidFill>
                <a:latin typeface="Consolas"/>
                <a:ea typeface="Consolas"/>
                <a:cs typeface="Consolas"/>
                <a:sym typeface="Consolas"/>
              </a:rPr>
              <a:t>SELECT feedback_type,</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  COUNT(*) AS count</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FROM quicksuite_logs.feedback_logs</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WHERE year=2026 AND month=3</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GROUP BY feedback_type;</a:t>
            </a:r>
            <a:endParaRPr/>
          </a:p>
        </p:txBody>
      </p:sp>
      <p:sp>
        <p:nvSpPr>
          <p:cNvPr id="296" name="Google Shape;296;p9"/>
          <p:cNvSpPr txBox="1"/>
          <p:nvPr/>
        </p:nvSpPr>
        <p:spPr>
          <a:xfrm>
            <a:off x="8229600" y="1463040"/>
            <a:ext cx="356616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00" u="none" cap="none" strike="noStrike">
                <a:solidFill>
                  <a:srgbClr val="0F1B2D"/>
                </a:solidFill>
                <a:latin typeface="Calibri"/>
                <a:ea typeface="Calibri"/>
                <a:cs typeface="Calibri"/>
                <a:sym typeface="Calibri"/>
              </a:rPr>
              <a:t>Join for Full Record</a:t>
            </a:r>
            <a:endParaRPr/>
          </a:p>
        </p:txBody>
      </p:sp>
      <p:sp>
        <p:nvSpPr>
          <p:cNvPr id="297" name="Google Shape;297;p9"/>
          <p:cNvSpPr/>
          <p:nvPr/>
        </p:nvSpPr>
        <p:spPr>
          <a:xfrm>
            <a:off x="8138160" y="1828800"/>
            <a:ext cx="3566160" cy="3291840"/>
          </a:xfrm>
          <a:prstGeom prst="rect">
            <a:avLst/>
          </a:prstGeom>
          <a:solidFill>
            <a:srgbClr val="F7F8FA"/>
          </a:solidFill>
          <a:ln cap="flat" cmpd="sng" w="9525">
            <a:solidFill>
              <a:srgbClr val="D8DDE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9"/>
          <p:cNvSpPr txBox="1"/>
          <p:nvPr/>
        </p:nvSpPr>
        <p:spPr>
          <a:xfrm>
            <a:off x="8321040" y="1965960"/>
            <a:ext cx="3200400" cy="30175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1E2761"/>
                </a:solidFill>
                <a:latin typeface="Consolas"/>
                <a:ea typeface="Consolas"/>
                <a:cs typeface="Consolas"/>
                <a:sym typeface="Consolas"/>
              </a:rPr>
              <a:t>SELECT cl.*, cc.user_message</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FROM quicksuite_logs.chat_logs cl</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JOIN quicksuite_logs</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  .chat_conversations cc</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  ON cl.system_message_id =</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     cc.system_message_id</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WHERE cl.year=2026</a:t>
            </a:r>
            <a:br>
              <a:rPr b="0" i="0" lang="en-US" sz="1100" u="none" cap="none" strike="noStrike">
                <a:solidFill>
                  <a:srgbClr val="1E2761"/>
                </a:solidFill>
                <a:latin typeface="Consolas"/>
                <a:ea typeface="Consolas"/>
                <a:cs typeface="Consolas"/>
                <a:sym typeface="Consolas"/>
              </a:rPr>
            </a:br>
            <a:r>
              <a:rPr b="0" i="0" lang="en-US" sz="1100" u="none" cap="none" strike="noStrike">
                <a:solidFill>
                  <a:srgbClr val="1E2761"/>
                </a:solidFill>
                <a:latin typeface="Consolas"/>
                <a:ea typeface="Consolas"/>
                <a:cs typeface="Consolas"/>
                <a:sym typeface="Consolas"/>
              </a:rPr>
              <a:t>  AND cl.month=3;</a:t>
            </a:r>
            <a:endParaRPr/>
          </a:p>
        </p:txBody>
      </p:sp>
      <p:sp>
        <p:nvSpPr>
          <p:cNvPr id="299" name="Google Shape;299;p9"/>
          <p:cNvSpPr txBox="1"/>
          <p:nvPr/>
        </p:nvSpPr>
        <p:spPr>
          <a:xfrm>
            <a:off x="457200" y="5486400"/>
            <a:ext cx="1097280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6B7280"/>
                </a:solidFill>
                <a:latin typeface="Calibri"/>
                <a:ea typeface="Calibri"/>
                <a:cs typeface="Calibri"/>
                <a:sym typeface="Calibri"/>
              </a:rPr>
              <a:t>4 QuickSight datasets (one per table) visualize data via Athena DIRECT_QUERY mode — always up to date, no SPICE refresh needed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4" name="Shape 304"/>
        <p:cNvGrpSpPr/>
        <p:nvPr/>
      </p:nvGrpSpPr>
      <p:grpSpPr>
        <a:xfrm>
          <a:off x="0" y="0"/>
          <a:ext cx="0" cy="0"/>
          <a:chOff x="0" y="0"/>
          <a:chExt cx="0" cy="0"/>
        </a:xfrm>
      </p:grpSpPr>
      <p:sp>
        <p:nvSpPr>
          <p:cNvPr id="305" name="Google Shape;305;p10"/>
          <p:cNvSpPr txBox="1"/>
          <p:nvPr/>
        </p:nvSpPr>
        <p:spPr>
          <a:xfrm>
            <a:off x="731520" y="320040"/>
            <a:ext cx="7315200" cy="5486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3200" u="none" cap="none" strike="noStrike">
                <a:solidFill>
                  <a:srgbClr val="0F1B2D"/>
                </a:solidFill>
                <a:latin typeface="Calibri"/>
                <a:ea typeface="Calibri"/>
                <a:cs typeface="Calibri"/>
                <a:sym typeface="Calibri"/>
              </a:rPr>
              <a:t>Proposed Access Control Model</a:t>
            </a:r>
            <a:endParaRPr/>
          </a:p>
        </p:txBody>
      </p:sp>
      <p:sp>
        <p:nvSpPr>
          <p:cNvPr id="306" name="Google Shape;306;p10"/>
          <p:cNvSpPr/>
          <p:nvPr/>
        </p:nvSpPr>
        <p:spPr>
          <a:xfrm>
            <a:off x="8229600" y="365760"/>
            <a:ext cx="3200400" cy="411480"/>
          </a:xfrm>
          <a:prstGeom prst="rect">
            <a:avLst/>
          </a:prstGeom>
          <a:solidFill>
            <a:srgbClr val="FFF3E0"/>
          </a:solidFill>
          <a:ln cap="flat" cmpd="sng" w="12700">
            <a:solidFill>
              <a:srgbClr val="FF99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10"/>
          <p:cNvSpPr txBox="1"/>
          <p:nvPr/>
        </p:nvSpPr>
        <p:spPr>
          <a:xfrm>
            <a:off x="8321040" y="384048"/>
            <a:ext cx="301752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100" u="none" cap="none" strike="noStrike">
                <a:solidFill>
                  <a:srgbClr val="B85042"/>
                </a:solidFill>
                <a:latin typeface="Calibri"/>
                <a:ea typeface="Calibri"/>
                <a:cs typeface="Calibri"/>
                <a:sym typeface="Calibri"/>
              </a:rPr>
              <a:t>PROPOSED — OPEN FOR FEEDBACK</a:t>
            </a:r>
            <a:endParaRPr/>
          </a:p>
        </p:txBody>
      </p:sp>
      <p:sp>
        <p:nvSpPr>
          <p:cNvPr id="308" name="Google Shape;308;p10"/>
          <p:cNvSpPr txBox="1"/>
          <p:nvPr/>
        </p:nvSpPr>
        <p:spPr>
          <a:xfrm>
            <a:off x="731520" y="868680"/>
            <a:ext cx="91440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6B7280"/>
                </a:solidFill>
                <a:latin typeface="Calibri"/>
                <a:ea typeface="Calibri"/>
                <a:cs typeface="Calibri"/>
                <a:sym typeface="Calibri"/>
              </a:rPr>
              <a:t>QuickSight Dataset, Glue Table, and Athena query access by role and environment</a:t>
            </a:r>
            <a:endParaRPr/>
          </a:p>
        </p:txBody>
      </p:sp>
      <p:sp>
        <p:nvSpPr>
          <p:cNvPr id="309" name="Google Shape;309;p10"/>
          <p:cNvSpPr/>
          <p:nvPr/>
        </p:nvSpPr>
        <p:spPr>
          <a:xfrm>
            <a:off x="457200" y="1463040"/>
            <a:ext cx="11247120" cy="502920"/>
          </a:xfrm>
          <a:prstGeom prst="rect">
            <a:avLst/>
          </a:prstGeom>
          <a:solidFill>
            <a:srgbClr val="0F1B2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10"/>
          <p:cNvSpPr txBox="1"/>
          <p:nvPr/>
        </p:nvSpPr>
        <p:spPr>
          <a:xfrm>
            <a:off x="594360" y="1554480"/>
            <a:ext cx="25603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Role / Environment</a:t>
            </a:r>
            <a:endParaRPr/>
          </a:p>
        </p:txBody>
      </p:sp>
      <p:sp>
        <p:nvSpPr>
          <p:cNvPr id="311" name="Google Shape;311;p10"/>
          <p:cNvSpPr txBox="1"/>
          <p:nvPr/>
        </p:nvSpPr>
        <p:spPr>
          <a:xfrm>
            <a:off x="3337560" y="1554480"/>
            <a:ext cx="25603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Glue Table Access</a:t>
            </a:r>
            <a:endParaRPr/>
          </a:p>
        </p:txBody>
      </p:sp>
      <p:sp>
        <p:nvSpPr>
          <p:cNvPr id="312" name="Google Shape;312;p10"/>
          <p:cNvSpPr txBox="1"/>
          <p:nvPr/>
        </p:nvSpPr>
        <p:spPr>
          <a:xfrm>
            <a:off x="6080760" y="1554480"/>
            <a:ext cx="256032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Athena Query Access</a:t>
            </a:r>
            <a:endParaRPr/>
          </a:p>
        </p:txBody>
      </p:sp>
      <p:sp>
        <p:nvSpPr>
          <p:cNvPr id="313" name="Google Shape;313;p10"/>
          <p:cNvSpPr txBox="1"/>
          <p:nvPr/>
        </p:nvSpPr>
        <p:spPr>
          <a:xfrm>
            <a:off x="8823960" y="1554480"/>
            <a:ext cx="274320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00" u="none" cap="none" strike="noStrike">
                <a:solidFill>
                  <a:srgbClr val="FFFFFF"/>
                </a:solidFill>
                <a:latin typeface="Calibri"/>
                <a:ea typeface="Calibri"/>
                <a:cs typeface="Calibri"/>
                <a:sym typeface="Calibri"/>
              </a:rPr>
              <a:t>QuickSight Dataset Access</a:t>
            </a:r>
            <a:endParaRPr/>
          </a:p>
        </p:txBody>
      </p:sp>
      <p:sp>
        <p:nvSpPr>
          <p:cNvPr id="314" name="Google Shape;314;p10"/>
          <p:cNvSpPr/>
          <p:nvPr/>
        </p:nvSpPr>
        <p:spPr>
          <a:xfrm>
            <a:off x="457200" y="2011680"/>
            <a:ext cx="11247120" cy="1371600"/>
          </a:xfrm>
          <a:prstGeom prst="rect">
            <a:avLst/>
          </a:prstGeom>
          <a:solidFill>
            <a:srgbClr val="F7F8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5" name="Google Shape;315;p10"/>
          <p:cNvSpPr/>
          <p:nvPr/>
        </p:nvSpPr>
        <p:spPr>
          <a:xfrm>
            <a:off x="457200" y="2011680"/>
            <a:ext cx="54864" cy="1371600"/>
          </a:xfrm>
          <a:prstGeom prst="rect">
            <a:avLst/>
          </a:prstGeom>
          <a:solidFill>
            <a:srgbClr val="0F1B2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10"/>
          <p:cNvSpPr txBox="1"/>
          <p:nvPr/>
        </p:nvSpPr>
        <p:spPr>
          <a:xfrm>
            <a:off x="685800" y="2194560"/>
            <a:ext cx="228600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400" u="none" cap="none" strike="noStrike">
                <a:solidFill>
                  <a:srgbClr val="0F1B2D"/>
                </a:solidFill>
                <a:latin typeface="Calibri"/>
                <a:ea typeface="Calibri"/>
                <a:cs typeface="Calibri"/>
                <a:sym typeface="Calibri"/>
              </a:rPr>
              <a:t>Admin PRO</a:t>
            </a:r>
            <a:br>
              <a:rPr b="1" i="0" lang="en-US" sz="1400" u="none" cap="none" strike="noStrike">
                <a:solidFill>
                  <a:srgbClr val="0F1B2D"/>
                </a:solidFill>
                <a:latin typeface="Calibri"/>
                <a:ea typeface="Calibri"/>
                <a:cs typeface="Calibri"/>
                <a:sym typeface="Calibri"/>
              </a:rPr>
            </a:br>
            <a:r>
              <a:rPr b="1" i="0" lang="en-US" sz="1400" u="none" cap="none" strike="noStrike">
                <a:solidFill>
                  <a:srgbClr val="0F1B2D"/>
                </a:solidFill>
                <a:latin typeface="Calibri"/>
                <a:ea typeface="Calibri"/>
                <a:cs typeface="Calibri"/>
                <a:sym typeface="Calibri"/>
              </a:rPr>
              <a:t>Non-Prod + Prod</a:t>
            </a:r>
            <a:endParaRPr/>
          </a:p>
        </p:txBody>
      </p:sp>
      <p:sp>
        <p:nvSpPr>
          <p:cNvPr id="317" name="Google Shape;317;p10"/>
          <p:cNvSpPr txBox="1"/>
          <p:nvPr/>
        </p:nvSpPr>
        <p:spPr>
          <a:xfrm>
            <a:off x="3337560" y="2148840"/>
            <a:ext cx="2286000" cy="1097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1E2761"/>
                </a:solidFill>
                <a:latin typeface="Calibri"/>
                <a:ea typeface="Calibri"/>
                <a:cs typeface="Calibri"/>
                <a:sym typeface="Calibri"/>
              </a:rPr>
              <a:t>Full read access</a:t>
            </a:r>
            <a:br>
              <a:rPr b="0" i="0" lang="en-US" sz="1100" u="none" cap="none" strike="noStrike">
                <a:solidFill>
                  <a:srgbClr val="1E2761"/>
                </a:solidFill>
                <a:latin typeface="Calibri"/>
                <a:ea typeface="Calibri"/>
                <a:cs typeface="Calibri"/>
                <a:sym typeface="Calibri"/>
              </a:rPr>
            </a:br>
            <a:r>
              <a:rPr b="0" i="0" lang="en-US" sz="1100" u="none" cap="none" strike="noStrike">
                <a:solidFill>
                  <a:srgbClr val="1E2761"/>
                </a:solidFill>
                <a:latin typeface="Calibri"/>
                <a:ea typeface="Calibri"/>
                <a:cs typeface="Calibri"/>
                <a:sym typeface="Calibri"/>
              </a:rPr>
              <a:t>to all 4 tables</a:t>
            </a:r>
            <a:endParaRPr/>
          </a:p>
        </p:txBody>
      </p:sp>
      <p:sp>
        <p:nvSpPr>
          <p:cNvPr id="318" name="Google Shape;318;p10"/>
          <p:cNvSpPr txBox="1"/>
          <p:nvPr/>
        </p:nvSpPr>
        <p:spPr>
          <a:xfrm>
            <a:off x="6080760" y="2148840"/>
            <a:ext cx="2286000" cy="1097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1E2761"/>
                </a:solidFill>
                <a:latin typeface="Calibri"/>
                <a:ea typeface="Calibri"/>
                <a:cs typeface="Calibri"/>
                <a:sym typeface="Calibri"/>
              </a:rPr>
              <a:t>Full query execution</a:t>
            </a:r>
            <a:br>
              <a:rPr b="0" i="0" lang="en-US" sz="1100" u="none" cap="none" strike="noStrike">
                <a:solidFill>
                  <a:srgbClr val="1E2761"/>
                </a:solidFill>
                <a:latin typeface="Calibri"/>
                <a:ea typeface="Calibri"/>
                <a:cs typeface="Calibri"/>
                <a:sym typeface="Calibri"/>
              </a:rPr>
            </a:br>
            <a:r>
              <a:rPr b="0" i="0" lang="en-US" sz="1100" u="none" cap="none" strike="noStrike">
                <a:solidFill>
                  <a:srgbClr val="1E2761"/>
                </a:solidFill>
                <a:latin typeface="Calibri"/>
                <a:ea typeface="Calibri"/>
                <a:cs typeface="Calibri"/>
                <a:sym typeface="Calibri"/>
              </a:rPr>
              <a:t>permissions</a:t>
            </a:r>
            <a:endParaRPr/>
          </a:p>
        </p:txBody>
      </p:sp>
      <p:sp>
        <p:nvSpPr>
          <p:cNvPr id="319" name="Google Shape;319;p10"/>
          <p:cNvSpPr txBox="1"/>
          <p:nvPr/>
        </p:nvSpPr>
        <p:spPr>
          <a:xfrm>
            <a:off x="8823960" y="2148840"/>
            <a:ext cx="2286000" cy="1097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1E2761"/>
                </a:solidFill>
                <a:latin typeface="Calibri"/>
                <a:ea typeface="Calibri"/>
                <a:cs typeface="Calibri"/>
                <a:sym typeface="Calibri"/>
              </a:rPr>
              <a:t>All 4 datasets:</a:t>
            </a:r>
            <a:br>
              <a:rPr b="0" i="0" lang="en-US" sz="1100" u="none" cap="none" strike="noStrike">
                <a:solidFill>
                  <a:srgbClr val="1E2761"/>
                </a:solidFill>
                <a:latin typeface="Calibri"/>
                <a:ea typeface="Calibri"/>
                <a:cs typeface="Calibri"/>
                <a:sym typeface="Calibri"/>
              </a:rPr>
            </a:br>
            <a:r>
              <a:rPr b="0" i="0" lang="en-US" sz="1100" u="none" cap="none" strike="noStrike">
                <a:solidFill>
                  <a:srgbClr val="1E2761"/>
                </a:solidFill>
                <a:latin typeface="Calibri"/>
                <a:ea typeface="Calibri"/>
                <a:cs typeface="Calibri"/>
                <a:sym typeface="Calibri"/>
              </a:rPr>
              <a:t>chat_logs, chat_conversations,</a:t>
            </a:r>
            <a:br>
              <a:rPr b="0" i="0" lang="en-US" sz="1100" u="none" cap="none" strike="noStrike">
                <a:solidFill>
                  <a:srgbClr val="1E2761"/>
                </a:solidFill>
                <a:latin typeface="Calibri"/>
                <a:ea typeface="Calibri"/>
                <a:cs typeface="Calibri"/>
                <a:sym typeface="Calibri"/>
              </a:rPr>
            </a:br>
            <a:r>
              <a:rPr b="0" i="0" lang="en-US" sz="1100" u="none" cap="none" strike="noStrike">
                <a:solidFill>
                  <a:srgbClr val="1E2761"/>
                </a:solidFill>
                <a:latin typeface="Calibri"/>
                <a:ea typeface="Calibri"/>
                <a:cs typeface="Calibri"/>
                <a:sym typeface="Calibri"/>
              </a:rPr>
              <a:t>feedback_logs, agent_hours</a:t>
            </a:r>
            <a:endParaRPr/>
          </a:p>
        </p:txBody>
      </p:sp>
      <p:sp>
        <p:nvSpPr>
          <p:cNvPr id="320" name="Google Shape;320;p10"/>
          <p:cNvSpPr/>
          <p:nvPr/>
        </p:nvSpPr>
        <p:spPr>
          <a:xfrm>
            <a:off x="457200" y="3429000"/>
            <a:ext cx="11247120" cy="13716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10"/>
          <p:cNvSpPr/>
          <p:nvPr/>
        </p:nvSpPr>
        <p:spPr>
          <a:xfrm>
            <a:off x="457200" y="3429000"/>
            <a:ext cx="54864" cy="1371600"/>
          </a:xfrm>
          <a:prstGeom prst="rect">
            <a:avLst/>
          </a:prstGeom>
          <a:solidFill>
            <a:srgbClr val="065A8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2" name="Google Shape;322;p10"/>
          <p:cNvSpPr txBox="1"/>
          <p:nvPr/>
        </p:nvSpPr>
        <p:spPr>
          <a:xfrm>
            <a:off x="685800" y="3611880"/>
            <a:ext cx="228600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400" u="none" cap="none" strike="noStrike">
                <a:solidFill>
                  <a:srgbClr val="065A82"/>
                </a:solidFill>
                <a:latin typeface="Calibri"/>
                <a:ea typeface="Calibri"/>
                <a:cs typeface="Calibri"/>
                <a:sym typeface="Calibri"/>
              </a:rPr>
              <a:t>Author PRO</a:t>
            </a:r>
            <a:br>
              <a:rPr b="1" i="0" lang="en-US" sz="1400" u="none" cap="none" strike="noStrike">
                <a:solidFill>
                  <a:srgbClr val="065A82"/>
                </a:solidFill>
                <a:latin typeface="Calibri"/>
                <a:ea typeface="Calibri"/>
                <a:cs typeface="Calibri"/>
                <a:sym typeface="Calibri"/>
              </a:rPr>
            </a:br>
            <a:r>
              <a:rPr b="1" i="0" lang="en-US" sz="1400" u="none" cap="none" strike="noStrike">
                <a:solidFill>
                  <a:srgbClr val="065A82"/>
                </a:solidFill>
                <a:latin typeface="Calibri"/>
                <a:ea typeface="Calibri"/>
                <a:cs typeface="Calibri"/>
                <a:sym typeface="Calibri"/>
              </a:rPr>
              <a:t>Non-Prod</a:t>
            </a:r>
            <a:endParaRPr/>
          </a:p>
        </p:txBody>
      </p:sp>
      <p:sp>
        <p:nvSpPr>
          <p:cNvPr id="323" name="Google Shape;323;p10"/>
          <p:cNvSpPr txBox="1"/>
          <p:nvPr/>
        </p:nvSpPr>
        <p:spPr>
          <a:xfrm>
            <a:off x="3337560" y="3566160"/>
            <a:ext cx="2286000" cy="1097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1E2761"/>
                </a:solidFill>
                <a:latin typeface="Calibri"/>
                <a:ea typeface="Calibri"/>
                <a:cs typeface="Calibri"/>
                <a:sym typeface="Calibri"/>
              </a:rPr>
              <a:t>Full read access</a:t>
            </a:r>
            <a:br>
              <a:rPr b="0" i="0" lang="en-US" sz="1100" u="none" cap="none" strike="noStrike">
                <a:solidFill>
                  <a:srgbClr val="1E2761"/>
                </a:solidFill>
                <a:latin typeface="Calibri"/>
                <a:ea typeface="Calibri"/>
                <a:cs typeface="Calibri"/>
                <a:sym typeface="Calibri"/>
              </a:rPr>
            </a:br>
            <a:r>
              <a:rPr b="0" i="0" lang="en-US" sz="1100" u="none" cap="none" strike="noStrike">
                <a:solidFill>
                  <a:srgbClr val="1E2761"/>
                </a:solidFill>
                <a:latin typeface="Calibri"/>
                <a:ea typeface="Calibri"/>
                <a:cs typeface="Calibri"/>
                <a:sym typeface="Calibri"/>
              </a:rPr>
              <a:t>to all 4 tables</a:t>
            </a:r>
            <a:endParaRPr/>
          </a:p>
        </p:txBody>
      </p:sp>
      <p:sp>
        <p:nvSpPr>
          <p:cNvPr id="324" name="Google Shape;324;p10"/>
          <p:cNvSpPr txBox="1"/>
          <p:nvPr/>
        </p:nvSpPr>
        <p:spPr>
          <a:xfrm>
            <a:off x="6080760" y="3566160"/>
            <a:ext cx="2286000" cy="1097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1E2761"/>
                </a:solidFill>
                <a:latin typeface="Calibri"/>
                <a:ea typeface="Calibri"/>
                <a:cs typeface="Calibri"/>
                <a:sym typeface="Calibri"/>
              </a:rPr>
              <a:t>Full query execution</a:t>
            </a:r>
            <a:br>
              <a:rPr b="0" i="0" lang="en-US" sz="1100" u="none" cap="none" strike="noStrike">
                <a:solidFill>
                  <a:srgbClr val="1E2761"/>
                </a:solidFill>
                <a:latin typeface="Calibri"/>
                <a:ea typeface="Calibri"/>
                <a:cs typeface="Calibri"/>
                <a:sym typeface="Calibri"/>
              </a:rPr>
            </a:br>
            <a:r>
              <a:rPr b="0" i="0" lang="en-US" sz="1100" u="none" cap="none" strike="noStrike">
                <a:solidFill>
                  <a:srgbClr val="1E2761"/>
                </a:solidFill>
                <a:latin typeface="Calibri"/>
                <a:ea typeface="Calibri"/>
                <a:cs typeface="Calibri"/>
                <a:sym typeface="Calibri"/>
              </a:rPr>
              <a:t>permissions</a:t>
            </a:r>
            <a:endParaRPr/>
          </a:p>
        </p:txBody>
      </p:sp>
      <p:sp>
        <p:nvSpPr>
          <p:cNvPr id="325" name="Google Shape;325;p10"/>
          <p:cNvSpPr txBox="1"/>
          <p:nvPr/>
        </p:nvSpPr>
        <p:spPr>
          <a:xfrm>
            <a:off x="8823960" y="3566160"/>
            <a:ext cx="2286000" cy="1097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1E2761"/>
                </a:solidFill>
                <a:latin typeface="Calibri"/>
                <a:ea typeface="Calibri"/>
                <a:cs typeface="Calibri"/>
                <a:sym typeface="Calibri"/>
              </a:rPr>
              <a:t>All 4 datasets:</a:t>
            </a:r>
            <a:br>
              <a:rPr b="0" i="0" lang="en-US" sz="1100" u="none" cap="none" strike="noStrike">
                <a:solidFill>
                  <a:srgbClr val="1E2761"/>
                </a:solidFill>
                <a:latin typeface="Calibri"/>
                <a:ea typeface="Calibri"/>
                <a:cs typeface="Calibri"/>
                <a:sym typeface="Calibri"/>
              </a:rPr>
            </a:br>
            <a:r>
              <a:rPr b="0" i="0" lang="en-US" sz="1100" u="none" cap="none" strike="noStrike">
                <a:solidFill>
                  <a:srgbClr val="1E2761"/>
                </a:solidFill>
                <a:latin typeface="Calibri"/>
                <a:ea typeface="Calibri"/>
                <a:cs typeface="Calibri"/>
                <a:sym typeface="Calibri"/>
              </a:rPr>
              <a:t>chat_logs, chat_conversations,</a:t>
            </a:r>
            <a:br>
              <a:rPr b="0" i="0" lang="en-US" sz="1100" u="none" cap="none" strike="noStrike">
                <a:solidFill>
                  <a:srgbClr val="1E2761"/>
                </a:solidFill>
                <a:latin typeface="Calibri"/>
                <a:ea typeface="Calibri"/>
                <a:cs typeface="Calibri"/>
                <a:sym typeface="Calibri"/>
              </a:rPr>
            </a:br>
            <a:r>
              <a:rPr b="0" i="0" lang="en-US" sz="1100" u="none" cap="none" strike="noStrike">
                <a:solidFill>
                  <a:srgbClr val="1E2761"/>
                </a:solidFill>
                <a:latin typeface="Calibri"/>
                <a:ea typeface="Calibri"/>
                <a:cs typeface="Calibri"/>
                <a:sym typeface="Calibri"/>
              </a:rPr>
              <a:t>feedback_logs, agent_hours</a:t>
            </a:r>
            <a:endParaRPr/>
          </a:p>
        </p:txBody>
      </p:sp>
      <p:sp>
        <p:nvSpPr>
          <p:cNvPr id="326" name="Google Shape;326;p10"/>
          <p:cNvSpPr/>
          <p:nvPr/>
        </p:nvSpPr>
        <p:spPr>
          <a:xfrm>
            <a:off x="457200" y="4846320"/>
            <a:ext cx="11247120" cy="1371600"/>
          </a:xfrm>
          <a:prstGeom prst="rect">
            <a:avLst/>
          </a:prstGeom>
          <a:solidFill>
            <a:srgbClr val="F7F8FA"/>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10"/>
          <p:cNvSpPr/>
          <p:nvPr/>
        </p:nvSpPr>
        <p:spPr>
          <a:xfrm>
            <a:off x="457200" y="4846320"/>
            <a:ext cx="54864" cy="1371600"/>
          </a:xfrm>
          <a:prstGeom prst="rect">
            <a:avLst/>
          </a:prstGeom>
          <a:solidFill>
            <a:srgbClr val="FF990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10"/>
          <p:cNvSpPr txBox="1"/>
          <p:nvPr/>
        </p:nvSpPr>
        <p:spPr>
          <a:xfrm>
            <a:off x="685800" y="5029200"/>
            <a:ext cx="228600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400" u="none" cap="none" strike="noStrike">
                <a:solidFill>
                  <a:srgbClr val="FF9900"/>
                </a:solidFill>
                <a:latin typeface="Calibri"/>
                <a:ea typeface="Calibri"/>
                <a:cs typeface="Calibri"/>
                <a:sym typeface="Calibri"/>
              </a:rPr>
              <a:t>Author PRO</a:t>
            </a:r>
            <a:br>
              <a:rPr b="1" i="0" lang="en-US" sz="1400" u="none" cap="none" strike="noStrike">
                <a:solidFill>
                  <a:srgbClr val="FF9900"/>
                </a:solidFill>
                <a:latin typeface="Calibri"/>
                <a:ea typeface="Calibri"/>
                <a:cs typeface="Calibri"/>
                <a:sym typeface="Calibri"/>
              </a:rPr>
            </a:br>
            <a:r>
              <a:rPr b="1" i="0" lang="en-US" sz="1400" u="none" cap="none" strike="noStrike">
                <a:solidFill>
                  <a:srgbClr val="FF9900"/>
                </a:solidFill>
                <a:latin typeface="Calibri"/>
                <a:ea typeface="Calibri"/>
                <a:cs typeface="Calibri"/>
                <a:sym typeface="Calibri"/>
              </a:rPr>
              <a:t>Prod</a:t>
            </a:r>
            <a:endParaRPr/>
          </a:p>
        </p:txBody>
      </p:sp>
      <p:sp>
        <p:nvSpPr>
          <p:cNvPr id="329" name="Google Shape;329;p10"/>
          <p:cNvSpPr txBox="1"/>
          <p:nvPr/>
        </p:nvSpPr>
        <p:spPr>
          <a:xfrm>
            <a:off x="3337560" y="4983480"/>
            <a:ext cx="2286000" cy="1097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1E2761"/>
                </a:solidFill>
                <a:latin typeface="Calibri"/>
                <a:ea typeface="Calibri"/>
                <a:cs typeface="Calibri"/>
                <a:sym typeface="Calibri"/>
              </a:rPr>
              <a:t>Limited read access</a:t>
            </a:r>
            <a:br>
              <a:rPr b="0" i="0" lang="en-US" sz="1100" u="none" cap="none" strike="noStrike">
                <a:solidFill>
                  <a:srgbClr val="1E2761"/>
                </a:solidFill>
                <a:latin typeface="Calibri"/>
                <a:ea typeface="Calibri"/>
                <a:cs typeface="Calibri"/>
                <a:sym typeface="Calibri"/>
              </a:rPr>
            </a:br>
            <a:r>
              <a:rPr b="0" i="0" lang="en-US" sz="1100" u="none" cap="none" strike="noStrike">
                <a:solidFill>
                  <a:srgbClr val="1E2761"/>
                </a:solidFill>
                <a:latin typeface="Calibri"/>
                <a:ea typeface="Calibri"/>
                <a:cs typeface="Calibri"/>
                <a:sym typeface="Calibri"/>
              </a:rPr>
              <a:t>3 of 4 tables</a:t>
            </a:r>
            <a:br>
              <a:rPr b="0" i="0" lang="en-US" sz="1100" u="none" cap="none" strike="noStrike">
                <a:solidFill>
                  <a:srgbClr val="1E2761"/>
                </a:solidFill>
                <a:latin typeface="Calibri"/>
                <a:ea typeface="Calibri"/>
                <a:cs typeface="Calibri"/>
                <a:sym typeface="Calibri"/>
              </a:rPr>
            </a:br>
            <a:r>
              <a:rPr b="0" i="0" lang="en-US" sz="1100" u="none" cap="none" strike="noStrike">
                <a:solidFill>
                  <a:srgbClr val="1E2761"/>
                </a:solidFill>
                <a:latin typeface="Calibri"/>
                <a:ea typeface="Calibri"/>
                <a:cs typeface="Calibri"/>
                <a:sym typeface="Calibri"/>
              </a:rPr>
              <a:t>(chat_conversations excluded)</a:t>
            </a:r>
            <a:endParaRPr/>
          </a:p>
        </p:txBody>
      </p:sp>
      <p:sp>
        <p:nvSpPr>
          <p:cNvPr id="330" name="Google Shape;330;p10"/>
          <p:cNvSpPr txBox="1"/>
          <p:nvPr/>
        </p:nvSpPr>
        <p:spPr>
          <a:xfrm>
            <a:off x="6080760" y="4983480"/>
            <a:ext cx="2286000" cy="1097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1E2761"/>
                </a:solidFill>
                <a:latin typeface="Calibri"/>
                <a:ea typeface="Calibri"/>
                <a:cs typeface="Calibri"/>
                <a:sym typeface="Calibri"/>
              </a:rPr>
              <a:t>Full query execution</a:t>
            </a:r>
            <a:br>
              <a:rPr b="0" i="0" lang="en-US" sz="1100" u="none" cap="none" strike="noStrike">
                <a:solidFill>
                  <a:srgbClr val="1E2761"/>
                </a:solidFill>
                <a:latin typeface="Calibri"/>
                <a:ea typeface="Calibri"/>
                <a:cs typeface="Calibri"/>
                <a:sym typeface="Calibri"/>
              </a:rPr>
            </a:br>
            <a:r>
              <a:rPr b="0" i="0" lang="en-US" sz="1100" u="none" cap="none" strike="noStrike">
                <a:solidFill>
                  <a:srgbClr val="1E2761"/>
                </a:solidFill>
                <a:latin typeface="Calibri"/>
                <a:ea typeface="Calibri"/>
                <a:cs typeface="Calibri"/>
                <a:sym typeface="Calibri"/>
              </a:rPr>
              <a:t>permissions</a:t>
            </a:r>
            <a:endParaRPr/>
          </a:p>
        </p:txBody>
      </p:sp>
      <p:sp>
        <p:nvSpPr>
          <p:cNvPr id="331" name="Google Shape;331;p10"/>
          <p:cNvSpPr txBox="1"/>
          <p:nvPr/>
        </p:nvSpPr>
        <p:spPr>
          <a:xfrm>
            <a:off x="8823960" y="4983480"/>
            <a:ext cx="2286000" cy="10972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rgbClr val="1E2761"/>
                </a:solidFill>
                <a:latin typeface="Calibri"/>
                <a:ea typeface="Calibri"/>
                <a:cs typeface="Calibri"/>
                <a:sym typeface="Calibri"/>
              </a:rPr>
              <a:t>3 datasets:</a:t>
            </a:r>
            <a:br>
              <a:rPr b="0" i="0" lang="en-US" sz="1100" u="none" cap="none" strike="noStrike">
                <a:solidFill>
                  <a:srgbClr val="1E2761"/>
                </a:solidFill>
                <a:latin typeface="Calibri"/>
                <a:ea typeface="Calibri"/>
                <a:cs typeface="Calibri"/>
                <a:sym typeface="Calibri"/>
              </a:rPr>
            </a:br>
            <a:r>
              <a:rPr b="0" i="0" lang="en-US" sz="1100" u="none" cap="none" strike="noStrike">
                <a:solidFill>
                  <a:srgbClr val="1E2761"/>
                </a:solidFill>
                <a:latin typeface="Calibri"/>
                <a:ea typeface="Calibri"/>
                <a:cs typeface="Calibri"/>
                <a:sym typeface="Calibri"/>
              </a:rPr>
              <a:t>chat_logs,</a:t>
            </a:r>
            <a:br>
              <a:rPr b="0" i="0" lang="en-US" sz="1100" u="none" cap="none" strike="noStrike">
                <a:solidFill>
                  <a:srgbClr val="1E2761"/>
                </a:solidFill>
                <a:latin typeface="Calibri"/>
                <a:ea typeface="Calibri"/>
                <a:cs typeface="Calibri"/>
                <a:sym typeface="Calibri"/>
              </a:rPr>
            </a:br>
            <a:r>
              <a:rPr b="0" i="0" lang="en-US" sz="1100" u="none" cap="none" strike="noStrike">
                <a:solidFill>
                  <a:srgbClr val="1E2761"/>
                </a:solidFill>
                <a:latin typeface="Calibri"/>
                <a:ea typeface="Calibri"/>
                <a:cs typeface="Calibri"/>
                <a:sym typeface="Calibri"/>
              </a:rPr>
              <a:t>feedback_logs, agent_hours</a:t>
            </a:r>
            <a:endParaRPr/>
          </a:p>
        </p:txBody>
      </p:sp>
      <p:sp>
        <p:nvSpPr>
          <p:cNvPr id="332" name="Google Shape;332;p10"/>
          <p:cNvSpPr txBox="1"/>
          <p:nvPr/>
        </p:nvSpPr>
        <p:spPr>
          <a:xfrm>
            <a:off x="457200" y="6309360"/>
            <a:ext cx="10972800" cy="3657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rgbClr val="B85042"/>
                </a:solidFill>
                <a:latin typeface="Calibri"/>
                <a:ea typeface="Calibri"/>
                <a:cs typeface="Calibri"/>
                <a:sym typeface="Calibri"/>
              </a:rPr>
              <a:t>Key distinction: Author PRO in Prod cannot access chat_conversations (contains redacted but sensitive conversation content)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